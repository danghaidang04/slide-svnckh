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jpg" ContentType="image/jpg"/>
  <Override PartName="/ppt/media/image3.jpg" ContentType="image/jpg"/>
  <Override PartName="/ppt/media/image4.jpg" ContentType="image/jpg"/>
  <Override PartName="/ppt/media/image5.jpg" ContentType="image/jpg"/>
  <Override PartName="/ppt/media/image6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5759988" cy="3140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559" y="-5349"/>
            <a:ext cx="2396490" cy="262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7157" y="498580"/>
            <a:ext cx="5214759" cy="22823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77598" y="2996328"/>
            <a:ext cx="158750" cy="2097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slide" Target="slide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499" y="0"/>
            <a:ext cx="5575488" cy="3239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09295" y="718170"/>
            <a:ext cx="347980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140" b="1">
                <a:solidFill>
                  <a:srgbClr val="D90000"/>
                </a:solidFill>
                <a:latin typeface="LM Sans 10"/>
                <a:cs typeface="Arial Black"/>
              </a:rPr>
              <a:t>43rd</a:t>
            </a:r>
            <a:r>
              <a:rPr dirty="0" sz="1800" spc="40" b="1">
                <a:solidFill>
                  <a:srgbClr val="D90000"/>
                </a:solidFill>
                <a:latin typeface="LM Sans 10"/>
                <a:cs typeface="Arial Black"/>
              </a:rPr>
              <a:t> </a:t>
            </a:r>
            <a:r>
              <a:rPr dirty="0" sz="1800" spc="-50" b="1">
                <a:solidFill>
                  <a:srgbClr val="D90000"/>
                </a:solidFill>
                <a:latin typeface="LM Sans 10"/>
                <a:cs typeface="Arial Black"/>
              </a:rPr>
              <a:t>HUST</a:t>
            </a:r>
            <a:r>
              <a:rPr dirty="0" sz="1800" spc="40" b="1">
                <a:solidFill>
                  <a:srgbClr val="D90000"/>
                </a:solidFill>
                <a:latin typeface="LM Sans 10"/>
                <a:cs typeface="Arial Black"/>
              </a:rPr>
              <a:t> </a:t>
            </a:r>
            <a:r>
              <a:rPr dirty="0" sz="1800" spc="-120" b="1">
                <a:solidFill>
                  <a:srgbClr val="D90000"/>
                </a:solidFill>
                <a:latin typeface="LM Sans 10"/>
                <a:cs typeface="Arial Black"/>
              </a:rPr>
              <a:t>Annual</a:t>
            </a:r>
            <a:r>
              <a:rPr dirty="0" sz="1800" spc="45" b="1">
                <a:solidFill>
                  <a:srgbClr val="D90000"/>
                </a:solidFill>
                <a:latin typeface="LM Sans 10"/>
                <a:cs typeface="Arial Black"/>
              </a:rPr>
              <a:t> </a:t>
            </a:r>
            <a:r>
              <a:rPr dirty="0" sz="1800" spc="-120" b="1">
                <a:solidFill>
                  <a:srgbClr val="D90000"/>
                </a:solidFill>
                <a:latin typeface="LM Sans 10"/>
                <a:cs typeface="Arial Black"/>
              </a:rPr>
              <a:t>Student</a:t>
            </a:r>
            <a:r>
              <a:rPr dirty="0" sz="1800" spc="40" b="1">
                <a:solidFill>
                  <a:srgbClr val="D90000"/>
                </a:solidFill>
                <a:latin typeface="LM Sans 10"/>
                <a:cs typeface="Arial Black"/>
              </a:rPr>
              <a:t> </a:t>
            </a:r>
            <a:r>
              <a:rPr dirty="0" sz="1800" spc="-180" b="1">
                <a:solidFill>
                  <a:srgbClr val="D90000"/>
                </a:solidFill>
                <a:latin typeface="LM Sans 10"/>
                <a:cs typeface="Arial Black"/>
              </a:rPr>
              <a:t>Research</a:t>
            </a:r>
            <a:r>
              <a:rPr dirty="0" sz="1800" spc="45" b="1">
                <a:solidFill>
                  <a:srgbClr val="D90000"/>
                </a:solidFill>
                <a:latin typeface="LM Sans 10"/>
                <a:cs typeface="Arial Black"/>
              </a:rPr>
              <a:t> </a:t>
            </a:r>
            <a:r>
              <a:rPr dirty="0" sz="1800" spc="-135" b="1">
                <a:solidFill>
                  <a:srgbClr val="D90000"/>
                </a:solidFill>
                <a:latin typeface="LM Sans 10"/>
                <a:cs typeface="Arial Black"/>
              </a:rPr>
              <a:t>Conference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295" y="999036"/>
            <a:ext cx="4518660" cy="174307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0"/>
              </a:spcBef>
            </a:pPr>
            <a:r>
              <a:rPr dirty="0" sz="1800" b="1">
                <a:solidFill>
                  <a:srgbClr val="005A8C"/>
                </a:solidFill>
                <a:latin typeface="LM Sans 10"/>
                <a:cs typeface="Arial Black"/>
              </a:rPr>
              <a:t>A</a:t>
            </a:r>
            <a:r>
              <a:rPr dirty="0" sz="1800" spc="4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800" spc="-200" b="1">
                <a:solidFill>
                  <a:srgbClr val="005A8C"/>
                </a:solidFill>
                <a:latin typeface="LM Sans 10"/>
                <a:cs typeface="Arial Black"/>
              </a:rPr>
              <a:t>Collaborative</a:t>
            </a:r>
            <a:r>
              <a:rPr dirty="0" sz="1800" spc="4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800" spc="-135" b="1">
                <a:solidFill>
                  <a:srgbClr val="005A8C"/>
                </a:solidFill>
                <a:latin typeface="LM Sans 10"/>
                <a:cs typeface="Arial Black"/>
              </a:rPr>
              <a:t>Multi-</a:t>
            </a:r>
            <a:r>
              <a:rPr dirty="0" sz="1800" spc="-155" b="1">
                <a:solidFill>
                  <a:srgbClr val="005A8C"/>
                </a:solidFill>
                <a:latin typeface="LM Sans 10"/>
                <a:cs typeface="Arial Black"/>
              </a:rPr>
              <a:t>agent</a:t>
            </a:r>
            <a:r>
              <a:rPr dirty="0" sz="1800" spc="4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800" spc="-200" b="1">
                <a:solidFill>
                  <a:srgbClr val="005A8C"/>
                </a:solidFill>
                <a:latin typeface="LM Sans 10"/>
                <a:cs typeface="Arial Black"/>
              </a:rPr>
              <a:t>Reinforcement Learning-</a:t>
            </a:r>
            <a:r>
              <a:rPr dirty="0" sz="1800" spc="-215" b="1">
                <a:solidFill>
                  <a:srgbClr val="005A8C"/>
                </a:solidFill>
                <a:latin typeface="LM Sans 10"/>
                <a:cs typeface="Arial Black"/>
              </a:rPr>
              <a:t>Based</a:t>
            </a:r>
            <a:r>
              <a:rPr dirty="0" sz="1800" spc="9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800" spc="-254" b="1">
                <a:solidFill>
                  <a:srgbClr val="005A8C"/>
                </a:solidFill>
                <a:latin typeface="LM Sans 10"/>
                <a:cs typeface="Arial Black"/>
              </a:rPr>
              <a:t>Framework</a:t>
            </a:r>
            <a:r>
              <a:rPr dirty="0" sz="1800" spc="100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800" spc="-165" b="1">
                <a:solidFill>
                  <a:srgbClr val="005A8C"/>
                </a:solidFill>
                <a:latin typeface="LM Sans 10"/>
                <a:cs typeface="Arial Black"/>
              </a:rPr>
              <a:t>for</a:t>
            </a:r>
            <a:r>
              <a:rPr dirty="0" sz="1800" spc="100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800" spc="-120" b="1">
                <a:solidFill>
                  <a:srgbClr val="005A8C"/>
                </a:solidFill>
                <a:latin typeface="LM Sans 10"/>
                <a:cs typeface="Arial Black"/>
              </a:rPr>
              <a:t>Automated </a:t>
            </a:r>
            <a:r>
              <a:rPr dirty="0" sz="1800" spc="-210" b="1">
                <a:solidFill>
                  <a:srgbClr val="005A8C"/>
                </a:solidFill>
                <a:latin typeface="LM Sans 10"/>
                <a:cs typeface="Arial Black"/>
              </a:rPr>
              <a:t>Related</a:t>
            </a:r>
            <a:r>
              <a:rPr dirty="0" sz="1800" spc="5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800" spc="-165" b="1">
                <a:solidFill>
                  <a:srgbClr val="005A8C"/>
                </a:solidFill>
                <a:latin typeface="LM Sans 10"/>
                <a:cs typeface="Arial Black"/>
              </a:rPr>
              <a:t>Work</a:t>
            </a:r>
            <a:r>
              <a:rPr dirty="0" sz="1800" spc="5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800" spc="-120" b="1">
                <a:solidFill>
                  <a:srgbClr val="005A8C"/>
                </a:solidFill>
                <a:latin typeface="LM Sans 10"/>
                <a:cs typeface="Arial Black"/>
              </a:rPr>
              <a:t>Summarization</a:t>
            </a:r>
            <a:endParaRPr sz="1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800" b="1">
                <a:solidFill>
                  <a:srgbClr val="005A8C"/>
                </a:solidFill>
                <a:latin typeface="LM Sans 10"/>
                <a:cs typeface="Arial Black"/>
              </a:rPr>
              <a:t>ID:</a:t>
            </a:r>
            <a:r>
              <a:rPr dirty="0" sz="1800" spc="-50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800" spc="-10" b="1">
                <a:latin typeface="LM Sans 10"/>
                <a:cs typeface="Arial"/>
              </a:rPr>
              <a:t>S.1.17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800" spc="-110" b="1">
                <a:solidFill>
                  <a:srgbClr val="005A8C"/>
                </a:solidFill>
                <a:latin typeface="LM Sans 10"/>
                <a:cs typeface="Arial Black"/>
              </a:rPr>
              <a:t>Students:</a:t>
            </a:r>
            <a:r>
              <a:rPr dirty="0" sz="1800" spc="2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800" spc="-10" b="1">
                <a:latin typeface="LM Sans 10"/>
                <a:cs typeface="Arial"/>
              </a:rPr>
              <a:t>Dang</a:t>
            </a:r>
            <a:r>
              <a:rPr dirty="0" sz="1800" spc="-55" b="1">
                <a:latin typeface="LM Sans 10"/>
                <a:cs typeface="Arial"/>
              </a:rPr>
              <a:t> </a:t>
            </a:r>
            <a:r>
              <a:rPr dirty="0" sz="1800" b="1">
                <a:latin typeface="LM Sans 10"/>
                <a:cs typeface="Arial"/>
              </a:rPr>
              <a:t>Hai</a:t>
            </a:r>
            <a:r>
              <a:rPr dirty="0" sz="1800" spc="-15" b="1">
                <a:latin typeface="LM Sans 10"/>
                <a:cs typeface="Arial"/>
              </a:rPr>
              <a:t> </a:t>
            </a:r>
            <a:r>
              <a:rPr dirty="0" sz="1800" spc="-10" b="1">
                <a:latin typeface="LM Sans 10"/>
                <a:cs typeface="Arial"/>
              </a:rPr>
              <a:t>Dang,</a:t>
            </a:r>
            <a:r>
              <a:rPr dirty="0" sz="1800" spc="-5" b="1">
                <a:latin typeface="LM Sans 10"/>
                <a:cs typeface="Arial"/>
              </a:rPr>
              <a:t> </a:t>
            </a:r>
            <a:r>
              <a:rPr dirty="0" sz="1800" spc="-10" b="1">
                <a:latin typeface="LM Sans 10"/>
                <a:cs typeface="Arial"/>
              </a:rPr>
              <a:t>Pham</a:t>
            </a:r>
            <a:r>
              <a:rPr dirty="0" sz="1800" b="1">
                <a:latin typeface="LM Sans 10"/>
                <a:cs typeface="Arial"/>
              </a:rPr>
              <a:t> Bao </a:t>
            </a:r>
            <a:r>
              <a:rPr dirty="0" sz="1800" spc="-25" b="1">
                <a:latin typeface="LM Sans 10"/>
                <a:cs typeface="Arial"/>
              </a:rPr>
              <a:t>Yen,</a:t>
            </a:r>
            <a:r>
              <a:rPr dirty="0" sz="1800" b="1">
                <a:latin typeface="LM Sans 10"/>
                <a:cs typeface="Arial"/>
              </a:rPr>
              <a:t> </a:t>
            </a:r>
            <a:r>
              <a:rPr dirty="0" sz="1800" spc="-30" b="1">
                <a:latin typeface="LM Sans 10"/>
                <a:cs typeface="Arial"/>
              </a:rPr>
              <a:t>Nguyen</a:t>
            </a:r>
            <a:r>
              <a:rPr dirty="0" sz="1800" spc="-5" b="1">
                <a:latin typeface="LM Sans 10"/>
                <a:cs typeface="Arial"/>
              </a:rPr>
              <a:t> </a:t>
            </a:r>
            <a:r>
              <a:rPr dirty="0" sz="1800" spc="-25" b="1">
                <a:latin typeface="LM Sans 10"/>
                <a:cs typeface="Arial"/>
              </a:rPr>
              <a:t>Quang</a:t>
            </a:r>
            <a:r>
              <a:rPr dirty="0" sz="1800" b="1">
                <a:latin typeface="LM Sans 10"/>
                <a:cs typeface="Arial"/>
              </a:rPr>
              <a:t> </a:t>
            </a:r>
            <a:r>
              <a:rPr dirty="0" sz="1800" spc="-10" b="1">
                <a:latin typeface="LM Sans 10"/>
                <a:cs typeface="Arial"/>
              </a:rPr>
              <a:t>Huy,</a:t>
            </a:r>
            <a:r>
              <a:rPr dirty="0" sz="1800" b="1">
                <a:latin typeface="LM Sans 10"/>
                <a:cs typeface="Arial"/>
              </a:rPr>
              <a:t> Do </a:t>
            </a:r>
            <a:r>
              <a:rPr dirty="0" sz="1800" spc="-10" b="1">
                <a:latin typeface="LM Sans 10"/>
                <a:cs typeface="Arial"/>
              </a:rPr>
              <a:t>Truong</a:t>
            </a:r>
            <a:r>
              <a:rPr dirty="0" sz="1800" spc="-5" b="1">
                <a:latin typeface="LM Sans 10"/>
                <a:cs typeface="Arial"/>
              </a:rPr>
              <a:t> </a:t>
            </a:r>
            <a:r>
              <a:rPr dirty="0" sz="1800" spc="-10" b="1">
                <a:latin typeface="LM Sans 10"/>
                <a:cs typeface="Arial"/>
              </a:rPr>
              <a:t>Giang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800" spc="-120" b="1">
                <a:solidFill>
                  <a:srgbClr val="005A8C"/>
                </a:solidFill>
                <a:latin typeface="LM Sans 10"/>
                <a:cs typeface="Arial Black"/>
              </a:rPr>
              <a:t>Supervisor:</a:t>
            </a:r>
            <a:r>
              <a:rPr dirty="0" sz="1800" spc="2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800" b="1">
                <a:latin typeface="LM Sans 10"/>
                <a:cs typeface="Arial"/>
              </a:rPr>
              <a:t>Prof.</a:t>
            </a:r>
            <a:r>
              <a:rPr dirty="0" sz="1800" spc="160" b="1">
                <a:latin typeface="LM Sans 10"/>
                <a:cs typeface="Arial"/>
              </a:rPr>
              <a:t> </a:t>
            </a:r>
            <a:r>
              <a:rPr dirty="0" sz="1800" b="1">
                <a:latin typeface="LM Sans 10"/>
                <a:cs typeface="Arial"/>
              </a:rPr>
              <a:t>Huynh</a:t>
            </a:r>
            <a:r>
              <a:rPr dirty="0" sz="1800" spc="60" b="1">
                <a:latin typeface="LM Sans 10"/>
                <a:cs typeface="Arial"/>
              </a:rPr>
              <a:t> </a:t>
            </a:r>
            <a:r>
              <a:rPr dirty="0" sz="1800" b="1">
                <a:latin typeface="LM Sans 10"/>
                <a:cs typeface="Arial"/>
              </a:rPr>
              <a:t>Thi</a:t>
            </a:r>
            <a:r>
              <a:rPr dirty="0" sz="1800" spc="60" b="1">
                <a:latin typeface="LM Sans 10"/>
                <a:cs typeface="Arial"/>
              </a:rPr>
              <a:t> </a:t>
            </a:r>
            <a:r>
              <a:rPr dirty="0" sz="1800" b="1">
                <a:latin typeface="LM Sans 10"/>
                <a:cs typeface="Arial"/>
              </a:rPr>
              <a:t>Thanh</a:t>
            </a:r>
            <a:r>
              <a:rPr dirty="0" sz="1800" spc="60" b="1">
                <a:latin typeface="LM Sans 10"/>
                <a:cs typeface="Arial"/>
              </a:rPr>
              <a:t> </a:t>
            </a:r>
            <a:r>
              <a:rPr dirty="0" sz="1800" b="1">
                <a:latin typeface="LM Sans 10"/>
                <a:cs typeface="Arial"/>
              </a:rPr>
              <a:t>Binh,</a:t>
            </a:r>
            <a:r>
              <a:rPr dirty="0" sz="1800" spc="55" b="1">
                <a:latin typeface="LM Sans 10"/>
                <a:cs typeface="Arial"/>
              </a:rPr>
              <a:t> </a:t>
            </a:r>
            <a:r>
              <a:rPr dirty="0" sz="1800" b="1">
                <a:latin typeface="LM Sans 10"/>
                <a:cs typeface="Arial"/>
              </a:rPr>
              <a:t>Dr.</a:t>
            </a:r>
            <a:r>
              <a:rPr dirty="0" sz="1800" spc="160" b="1">
                <a:latin typeface="LM Sans 10"/>
                <a:cs typeface="Arial"/>
              </a:rPr>
              <a:t> </a:t>
            </a:r>
            <a:r>
              <a:rPr dirty="0" sz="1800" spc="-30" b="1">
                <a:latin typeface="LM Sans 10"/>
                <a:cs typeface="Arial"/>
              </a:rPr>
              <a:t>Nguyen</a:t>
            </a:r>
            <a:r>
              <a:rPr dirty="0" sz="1800" spc="60" b="1">
                <a:latin typeface="LM Sans 10"/>
                <a:cs typeface="Arial"/>
              </a:rPr>
              <a:t> </a:t>
            </a:r>
            <a:r>
              <a:rPr dirty="0" sz="1800" b="1">
                <a:latin typeface="LM Sans 10"/>
                <a:cs typeface="Arial"/>
              </a:rPr>
              <a:t>Thi</a:t>
            </a:r>
            <a:r>
              <a:rPr dirty="0" sz="1800" spc="60" b="1">
                <a:latin typeface="LM Sans 10"/>
                <a:cs typeface="Arial"/>
              </a:rPr>
              <a:t> </a:t>
            </a:r>
            <a:r>
              <a:rPr dirty="0" sz="1800" spc="-10" b="1">
                <a:latin typeface="LM Sans 10"/>
                <a:cs typeface="Arial"/>
              </a:rPr>
              <a:t>Huong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800" spc="-95" b="1">
                <a:solidFill>
                  <a:srgbClr val="005A8C"/>
                </a:solidFill>
                <a:latin typeface="LM Sans 10"/>
                <a:cs typeface="Arial Black"/>
              </a:rPr>
              <a:t>Hanoi</a:t>
            </a:r>
            <a:r>
              <a:rPr dirty="0" sz="1800" spc="4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800" spc="-105" b="1">
                <a:solidFill>
                  <a:srgbClr val="005A8C"/>
                </a:solidFill>
                <a:latin typeface="LM Sans 10"/>
                <a:cs typeface="Arial Black"/>
              </a:rPr>
              <a:t>University</a:t>
            </a:r>
            <a:r>
              <a:rPr dirty="0" sz="1800" spc="50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800" spc="-65" b="1">
                <a:solidFill>
                  <a:srgbClr val="005A8C"/>
                </a:solidFill>
                <a:latin typeface="LM Sans 10"/>
                <a:cs typeface="Arial Black"/>
              </a:rPr>
              <a:t>of</a:t>
            </a:r>
            <a:r>
              <a:rPr dirty="0" sz="1800" spc="4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800" spc="-135" b="1">
                <a:solidFill>
                  <a:srgbClr val="005A8C"/>
                </a:solidFill>
                <a:latin typeface="LM Sans 10"/>
                <a:cs typeface="Arial Black"/>
              </a:rPr>
              <a:t>Science</a:t>
            </a:r>
            <a:r>
              <a:rPr dirty="0" sz="1800" spc="50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800" spc="-114" b="1">
                <a:solidFill>
                  <a:srgbClr val="005A8C"/>
                </a:solidFill>
                <a:latin typeface="LM Sans 10"/>
                <a:cs typeface="Arial Black"/>
              </a:rPr>
              <a:t>and</a:t>
            </a:r>
            <a:r>
              <a:rPr dirty="0" sz="1800" spc="50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800" spc="-10" b="1">
                <a:solidFill>
                  <a:srgbClr val="005A8C"/>
                </a:solidFill>
                <a:latin typeface="LM Sans 10"/>
                <a:cs typeface="Arial Black"/>
              </a:rPr>
              <a:t>Technology</a:t>
            </a:r>
            <a:endParaRPr sz="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800" b="1">
                <a:solidFill>
                  <a:srgbClr val="404040"/>
                </a:solidFill>
                <a:latin typeface="LM Sans 10"/>
                <a:cs typeface="Arial"/>
              </a:rPr>
              <a:t>May</a:t>
            </a:r>
            <a:r>
              <a:rPr dirty="0" sz="1800" spc="-20" b="1">
                <a:solidFill>
                  <a:srgbClr val="404040"/>
                </a:solidFill>
                <a:latin typeface="LM Sans 10"/>
                <a:cs typeface="Arial"/>
              </a:rPr>
              <a:t> </a:t>
            </a:r>
            <a:r>
              <a:rPr dirty="0" sz="1800" b="1">
                <a:solidFill>
                  <a:srgbClr val="404040"/>
                </a:solidFill>
                <a:latin typeface="LM Sans 10"/>
                <a:cs typeface="Arial"/>
              </a:rPr>
              <a:t>14,</a:t>
            </a:r>
            <a:r>
              <a:rPr dirty="0" sz="1800" spc="-15" b="1">
                <a:solidFill>
                  <a:srgbClr val="404040"/>
                </a:solidFill>
                <a:latin typeface="LM Sans 10"/>
                <a:cs typeface="Arial"/>
              </a:rPr>
              <a:t> </a:t>
            </a:r>
            <a:r>
              <a:rPr dirty="0" sz="1800" spc="-20" b="1">
                <a:solidFill>
                  <a:srgbClr val="404040"/>
                </a:solidFill>
                <a:latin typeface="LM Sans 10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b="1">
                <a:latin typeface="LM Sans 10"/>
              </a:rPr>
              <a:t>Problem</a:t>
            </a:r>
            <a:r>
              <a:rPr dirty="0" spc="150" sz="1600" b="1">
                <a:latin typeface="LM Sans 10"/>
              </a:rPr>
              <a:t> </a:t>
            </a:r>
            <a:r>
              <a:rPr dirty="0" spc="-10" sz="1600" b="1">
                <a:latin typeface="LM Sans 10"/>
              </a:rPr>
              <a:t>Statement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579" y="531817"/>
            <a:ext cx="4334767" cy="183899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8536" y="2468537"/>
            <a:ext cx="5436235" cy="0"/>
          </a:xfrm>
          <a:custGeom>
            <a:avLst/>
            <a:gdLst/>
            <a:ahLst/>
            <a:cxnLst/>
            <a:rect l="l" t="t" r="r" b="b"/>
            <a:pathLst>
              <a:path w="5436235" h="0">
                <a:moveTo>
                  <a:pt x="0" y="0"/>
                </a:moveTo>
                <a:lnTo>
                  <a:pt x="54359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5836" y="2447610"/>
            <a:ext cx="5461635" cy="44323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95250" indent="-82550">
              <a:lnSpc>
                <a:spcPct val="100000"/>
              </a:lnSpc>
              <a:spcBef>
                <a:spcPts val="195"/>
              </a:spcBef>
              <a:buClr>
                <a:srgbClr val="7F807F"/>
              </a:buClr>
              <a:buSzPct val="80000"/>
              <a:buFont typeface="Arial"/>
              <a:buAutoNum type="arabicPlain"/>
              <a:tabLst>
                <a:tab pos="95250" algn="l"/>
              </a:tabLst>
            </a:pPr>
            <a:r>
              <a:rPr dirty="0" sz="1100" spc="-2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Cong</a:t>
            </a:r>
            <a:r>
              <a:rPr dirty="0" sz="1100" spc="-25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Duy</a:t>
            </a:r>
            <a:r>
              <a:rPr dirty="0" sz="1100" spc="-2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Vu</a:t>
            </a:r>
            <a:r>
              <a:rPr dirty="0" sz="1100" spc="-25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Hoang</a:t>
            </a:r>
            <a:r>
              <a:rPr dirty="0" sz="1100" spc="-2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and</a:t>
            </a:r>
            <a:r>
              <a:rPr dirty="0" sz="1100" spc="-25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Min-</a:t>
            </a:r>
            <a:r>
              <a:rPr dirty="0" sz="1100" spc="-3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Yen</a:t>
            </a:r>
            <a:r>
              <a:rPr dirty="0" sz="1100" spc="-2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Kan.</a:t>
            </a:r>
            <a:r>
              <a:rPr dirty="0" sz="1100" spc="-25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latin typeface="LM Sans 10"/>
                <a:cs typeface="Arial"/>
                <a:hlinkClick r:id="rId3" action="ppaction://hlinksldjump"/>
              </a:rPr>
              <a:t>“Towards</a:t>
            </a:r>
            <a:r>
              <a:rPr dirty="0" sz="1100" spc="-2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>
                <a:latin typeface="LM Sans 10"/>
                <a:cs typeface="Arial"/>
                <a:hlinkClick r:id="rId3" action="ppaction://hlinksldjump"/>
              </a:rPr>
              <a:t>automated</a:t>
            </a:r>
            <a:r>
              <a:rPr dirty="0" sz="1100" spc="-2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latin typeface="LM Sans 10"/>
                <a:cs typeface="Arial"/>
                <a:hlinkClick r:id="rId3" action="ppaction://hlinksldjump"/>
              </a:rPr>
              <a:t>related</a:t>
            </a:r>
            <a:r>
              <a:rPr dirty="0" sz="1100" spc="-2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latin typeface="LM Sans 10"/>
                <a:cs typeface="Arial"/>
                <a:hlinkClick r:id="rId3" action="ppaction://hlinksldjump"/>
              </a:rPr>
              <a:t>work</a:t>
            </a:r>
            <a:r>
              <a:rPr dirty="0" sz="1100" spc="-2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latin typeface="LM Sans 10"/>
                <a:cs typeface="Arial"/>
                <a:hlinkClick r:id="rId3" action="ppaction://hlinksldjump"/>
              </a:rPr>
              <a:t>summarization”.</a:t>
            </a:r>
            <a:r>
              <a:rPr dirty="0" sz="1100" spc="-2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In:</a:t>
            </a:r>
            <a:r>
              <a:rPr dirty="0" sz="1100" spc="-2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Coling</a:t>
            </a:r>
            <a:r>
              <a:rPr dirty="0" sz="1100" spc="-2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2010:</a:t>
            </a:r>
            <a:r>
              <a:rPr dirty="0" sz="1100" spc="-2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Posters</a:t>
            </a:r>
            <a:r>
              <a:rPr dirty="0" sz="1100" spc="-2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.</a:t>
            </a:r>
            <a:r>
              <a:rPr dirty="0" sz="1100" spc="-25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2010,</a:t>
            </a:r>
            <a:r>
              <a:rPr dirty="0" sz="1100" spc="-2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pp.</a:t>
            </a:r>
            <a:r>
              <a:rPr dirty="0" sz="1100" spc="-25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2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427–</a:t>
            </a:r>
            <a:r>
              <a:rPr dirty="0" sz="1100" spc="-25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435</a:t>
            </a:r>
            <a:endParaRPr sz="500">
              <a:latin typeface="Arial"/>
              <a:cs typeface="Arial"/>
            </a:endParaRPr>
          </a:p>
          <a:p>
            <a:pPr marL="12700" marR="5080" indent="83185">
              <a:lnSpc>
                <a:spcPct val="100000"/>
              </a:lnSpc>
              <a:spcBef>
                <a:spcPts val="100"/>
              </a:spcBef>
              <a:buClr>
                <a:srgbClr val="7F807F"/>
              </a:buClr>
              <a:buSzPct val="80000"/>
              <a:buAutoNum type="arabicPlain"/>
              <a:tabLst>
                <a:tab pos="95885" algn="l"/>
              </a:tabLst>
            </a:pPr>
            <a:r>
              <a:rPr dirty="0" sz="1100" spc="-2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Wen </a:t>
            </a:r>
            <a:r>
              <a:rPr dirty="0" sz="1100" spc="-1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Xiao</a:t>
            </a:r>
            <a:r>
              <a:rPr dirty="0" sz="1100" spc="-15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et</a:t>
            </a:r>
            <a:r>
              <a:rPr dirty="0" sz="1100" spc="-15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al.</a:t>
            </a:r>
            <a:r>
              <a:rPr dirty="0" sz="1100" spc="-15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>
                <a:latin typeface="LM Sans 10"/>
                <a:cs typeface="Arial"/>
                <a:hlinkClick r:id="rId3" action="ppaction://hlinksldjump"/>
              </a:rPr>
              <a:t>“PRIMERA:</a:t>
            </a:r>
            <a:r>
              <a:rPr dirty="0" sz="1100" spc="-1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latin typeface="LM Sans 10"/>
                <a:cs typeface="Arial"/>
                <a:hlinkClick r:id="rId3" action="ppaction://hlinksldjump"/>
              </a:rPr>
              <a:t>Pyramid-based</a:t>
            </a:r>
            <a:r>
              <a:rPr dirty="0" sz="1100" spc="-1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20">
                <a:latin typeface="LM Sans 10"/>
                <a:cs typeface="Arial"/>
                <a:hlinkClick r:id="rId3" action="ppaction://hlinksldjump"/>
              </a:rPr>
              <a:t>Masked </a:t>
            </a:r>
            <a:r>
              <a:rPr dirty="0" sz="1100" spc="-25">
                <a:latin typeface="LM Sans 10"/>
                <a:cs typeface="Arial"/>
                <a:hlinkClick r:id="rId3" action="ppaction://hlinksldjump"/>
              </a:rPr>
              <a:t>Sentence</a:t>
            </a:r>
            <a:r>
              <a:rPr dirty="0" sz="1100" spc="-1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>
                <a:latin typeface="LM Sans 10"/>
                <a:cs typeface="Arial"/>
                <a:hlinkClick r:id="rId3" action="ppaction://hlinksldjump"/>
              </a:rPr>
              <a:t>Pre-training</a:t>
            </a:r>
            <a:r>
              <a:rPr dirty="0" sz="1100" spc="-1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>
                <a:latin typeface="LM Sans 10"/>
                <a:cs typeface="Arial"/>
                <a:hlinkClick r:id="rId3" action="ppaction://hlinksldjump"/>
              </a:rPr>
              <a:t>for</a:t>
            </a:r>
            <a:r>
              <a:rPr dirty="0" sz="1100" spc="-1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>
                <a:latin typeface="LM Sans 10"/>
                <a:cs typeface="Arial"/>
                <a:hlinkClick r:id="rId3" action="ppaction://hlinksldjump"/>
              </a:rPr>
              <a:t>Multi-document</a:t>
            </a:r>
            <a:r>
              <a:rPr dirty="0" sz="1100" spc="-1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latin typeface="LM Sans 10"/>
                <a:cs typeface="Arial"/>
                <a:hlinkClick r:id="rId3" action="ppaction://hlinksldjump"/>
              </a:rPr>
              <a:t>Summarization”.</a:t>
            </a:r>
            <a:r>
              <a:rPr dirty="0" sz="1100" spc="-1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In:</a:t>
            </a:r>
            <a:r>
              <a:rPr dirty="0" sz="1100" spc="-15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2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Proceedings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of</a:t>
            </a:r>
            <a:r>
              <a:rPr dirty="0" sz="11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the</a:t>
            </a:r>
            <a:r>
              <a:rPr dirty="0" sz="11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60th</a:t>
            </a:r>
            <a:r>
              <a:rPr dirty="0" sz="11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Annual</a:t>
            </a:r>
            <a:r>
              <a:rPr dirty="0" sz="11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Meeting</a:t>
            </a:r>
            <a:r>
              <a:rPr dirty="0" sz="11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of</a:t>
            </a:r>
            <a:r>
              <a:rPr dirty="0" sz="11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the</a:t>
            </a:r>
            <a:r>
              <a:rPr dirty="0" sz="11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Association</a:t>
            </a:r>
            <a:r>
              <a:rPr dirty="0" sz="11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for</a:t>
            </a:r>
            <a:r>
              <a:rPr dirty="0" sz="11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Computational</a:t>
            </a:r>
            <a:r>
              <a:rPr dirty="0" sz="11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2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Lin-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guistics</a:t>
            </a:r>
            <a:r>
              <a:rPr dirty="0" sz="1100" spc="-2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(Volume</a:t>
            </a:r>
            <a:r>
              <a:rPr dirty="0" sz="1100" spc="-2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1:</a:t>
            </a:r>
            <a:r>
              <a:rPr dirty="0" sz="1100" spc="-2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Long</a:t>
            </a:r>
            <a:r>
              <a:rPr dirty="0" sz="1100" spc="-2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Papers)</a:t>
            </a:r>
            <a:r>
              <a:rPr dirty="0" sz="1100" spc="-1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.</a:t>
            </a:r>
            <a:r>
              <a:rPr dirty="0" sz="1100" spc="-2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2022,</a:t>
            </a:r>
            <a:r>
              <a:rPr dirty="0" sz="1100" spc="-25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pp.</a:t>
            </a:r>
            <a:r>
              <a:rPr dirty="0" sz="1100" spc="-25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2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5245–5263</a:t>
            </a:r>
            <a:endParaRPr sz="500">
              <a:latin typeface="Arial"/>
              <a:cs typeface="Arial"/>
            </a:endParaRPr>
          </a:p>
          <a:p>
            <a:pPr marL="12700" marR="5080" indent="83820">
              <a:lnSpc>
                <a:spcPct val="100000"/>
              </a:lnSpc>
              <a:spcBef>
                <a:spcPts val="95"/>
              </a:spcBef>
              <a:buClr>
                <a:srgbClr val="7F807F"/>
              </a:buClr>
              <a:buSzPct val="80000"/>
              <a:buAutoNum type="arabicPlain"/>
              <a:tabLst>
                <a:tab pos="96520" algn="l"/>
              </a:tabLst>
            </a:pPr>
            <a:r>
              <a:rPr dirty="0" sz="1100" spc="-1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Xiaochuan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Liu</a:t>
            </a:r>
            <a:r>
              <a:rPr dirty="0" sz="1100" spc="-1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et</a:t>
            </a:r>
            <a:r>
              <a:rPr dirty="0" sz="1100" spc="-1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al.</a:t>
            </a:r>
            <a:r>
              <a:rPr dirty="0" sz="1100" spc="-1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>
                <a:latin typeface="LM Sans 10"/>
                <a:cs typeface="Arial"/>
                <a:hlinkClick r:id="rId3" action="ppaction://hlinksldjump"/>
              </a:rPr>
              <a:t>“Select,</a:t>
            </a:r>
            <a:r>
              <a:rPr dirty="0" sz="1100" spc="-1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25">
                <a:latin typeface="LM Sans 10"/>
                <a:cs typeface="Arial"/>
                <a:hlinkClick r:id="rId3" action="ppaction://hlinksldjump"/>
              </a:rPr>
              <a:t>Read,</a:t>
            </a:r>
            <a:r>
              <a:rPr dirty="0" sz="1100" spc="-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latin typeface="LM Sans 10"/>
                <a:cs typeface="Arial"/>
                <a:hlinkClick r:id="rId3" action="ppaction://hlinksldjump"/>
              </a:rPr>
              <a:t>and </a:t>
            </a:r>
            <a:r>
              <a:rPr dirty="0" sz="1100">
                <a:latin typeface="LM Sans 10"/>
                <a:cs typeface="Arial"/>
                <a:hlinkClick r:id="rId3" action="ppaction://hlinksldjump"/>
              </a:rPr>
              <a:t>Write:</a:t>
            </a:r>
            <a:r>
              <a:rPr dirty="0" sz="1100" spc="-1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>
                <a:latin typeface="LM Sans 10"/>
                <a:cs typeface="Arial"/>
                <a:hlinkClick r:id="rId3" action="ppaction://hlinksldjump"/>
              </a:rPr>
              <a:t>A</a:t>
            </a:r>
            <a:r>
              <a:rPr dirty="0" sz="1100" spc="-1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>
                <a:latin typeface="LM Sans 10"/>
                <a:cs typeface="Arial"/>
                <a:hlinkClick r:id="rId3" action="ppaction://hlinksldjump"/>
              </a:rPr>
              <a:t>Multi-Agent</a:t>
            </a:r>
            <a:r>
              <a:rPr dirty="0" sz="1100" spc="-10">
                <a:latin typeface="LM Sans 10"/>
                <a:cs typeface="Arial"/>
                <a:hlinkClick r:id="rId3" action="ppaction://hlinksldjump"/>
              </a:rPr>
              <a:t> Framework </a:t>
            </a:r>
            <a:r>
              <a:rPr dirty="0" sz="1100">
                <a:latin typeface="LM Sans 10"/>
                <a:cs typeface="Arial"/>
                <a:hlinkClick r:id="rId3" action="ppaction://hlinksldjump"/>
              </a:rPr>
              <a:t>of</a:t>
            </a:r>
            <a:r>
              <a:rPr dirty="0" sz="1100" spc="-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>
                <a:latin typeface="LM Sans 10"/>
                <a:cs typeface="Arial"/>
                <a:hlinkClick r:id="rId3" action="ppaction://hlinksldjump"/>
              </a:rPr>
              <a:t>Full-</a:t>
            </a:r>
            <a:r>
              <a:rPr dirty="0" sz="1100" spc="-20">
                <a:latin typeface="LM Sans 10"/>
                <a:cs typeface="Arial"/>
                <a:hlinkClick r:id="rId3" action="ppaction://hlinksldjump"/>
              </a:rPr>
              <a:t>Text-based</a:t>
            </a:r>
            <a:r>
              <a:rPr dirty="0" sz="1100" spc="-10">
                <a:latin typeface="LM Sans 10"/>
                <a:cs typeface="Arial"/>
                <a:hlinkClick r:id="rId3" action="ppaction://hlinksldjump"/>
              </a:rPr>
              <a:t> Related </a:t>
            </a:r>
            <a:r>
              <a:rPr dirty="0" sz="1100">
                <a:latin typeface="LM Sans 10"/>
                <a:cs typeface="Arial"/>
                <a:hlinkClick r:id="rId3" action="ppaction://hlinksldjump"/>
              </a:rPr>
              <a:t>Work</a:t>
            </a:r>
            <a:r>
              <a:rPr dirty="0" sz="1100" spc="-10">
                <a:latin typeface="LM Sans 10"/>
                <a:cs typeface="Arial"/>
                <a:hlinkClick r:id="rId3" action="ppaction://hlinksldjump"/>
              </a:rPr>
              <a:t> Generation”. </a:t>
            </a:r>
            <a:r>
              <a:rPr dirty="0" sz="11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In:</a:t>
            </a:r>
            <a:r>
              <a:rPr dirty="0" sz="1100" spc="-1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Findings</a:t>
            </a:r>
            <a:r>
              <a:rPr dirty="0" sz="1100" spc="-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of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the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Association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for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Computational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Linguistics</a:t>
            </a:r>
            <a:r>
              <a:rPr dirty="0" sz="1100" spc="-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(2025).</a:t>
            </a:r>
            <a:r>
              <a:rPr dirty="0" sz="1100" spc="-1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Accepted</a:t>
            </a:r>
            <a:r>
              <a:rPr dirty="0" sz="1100" spc="5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z="11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for</a:t>
            </a:r>
            <a:r>
              <a:rPr dirty="0" sz="1100" spc="-4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publication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b="1">
                <a:latin typeface="LM Sans 10"/>
              </a:rPr>
              <a:t>Proposed</a:t>
            </a:r>
            <a:r>
              <a:rPr dirty="0" spc="100" sz="1600" b="1">
                <a:latin typeface="LM Sans 10"/>
              </a:rPr>
              <a:t> </a:t>
            </a:r>
            <a:r>
              <a:rPr dirty="0" spc="-10" sz="1600" b="1">
                <a:latin typeface="LM Sans 10"/>
              </a:rPr>
              <a:t>Framework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026" y="377233"/>
            <a:ext cx="2723725" cy="8998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14982" y="1335822"/>
            <a:ext cx="23501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>
                <a:solidFill>
                  <a:srgbClr val="3333B3"/>
                </a:solidFill>
                <a:latin typeface="LM Sans 10"/>
                <a:cs typeface="Arial"/>
              </a:rPr>
              <a:t>Figure</a:t>
            </a:r>
            <a:r>
              <a:rPr dirty="0" sz="1100" spc="2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</a:rPr>
              <a:t>1:</a:t>
            </a:r>
            <a:r>
              <a:rPr dirty="0" sz="1100" spc="30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Prior</a:t>
            </a:r>
            <a:r>
              <a:rPr dirty="0" sz="1100" spc="3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work</a:t>
            </a:r>
            <a:r>
              <a:rPr dirty="0" sz="1100" spc="30">
                <a:latin typeface="LM Sans 10"/>
                <a:cs typeface="Arial"/>
              </a:rPr>
              <a:t> </a:t>
            </a:r>
            <a:r>
              <a:rPr dirty="0" sz="1100" spc="-20">
                <a:latin typeface="LM Sans 10"/>
                <a:cs typeface="Arial"/>
              </a:rPr>
              <a:t>leveraging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 spc="-20">
                <a:latin typeface="LM Sans 10"/>
                <a:cs typeface="Arial"/>
              </a:rPr>
              <a:t>LLM-</a:t>
            </a:r>
            <a:r>
              <a:rPr dirty="0" sz="1100">
                <a:latin typeface="LM Sans 10"/>
                <a:cs typeface="Arial"/>
              </a:rPr>
              <a:t>based</a:t>
            </a:r>
            <a:r>
              <a:rPr dirty="0" sz="1100" spc="3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method.</a:t>
            </a:r>
            <a:endParaRPr sz="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8026" y="1670842"/>
            <a:ext cx="2723725" cy="89980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43775" y="2629431"/>
            <a:ext cx="40925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>
                <a:solidFill>
                  <a:srgbClr val="3333B3"/>
                </a:solidFill>
                <a:latin typeface="LM Sans 10"/>
                <a:cs typeface="Arial"/>
              </a:rPr>
              <a:t>Figure</a:t>
            </a:r>
            <a:r>
              <a:rPr dirty="0" sz="1100" spc="40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</a:rPr>
              <a:t>2:</a:t>
            </a:r>
            <a:r>
              <a:rPr dirty="0" sz="1100" spc="40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A</a:t>
            </a:r>
            <a:r>
              <a:rPr dirty="0" sz="1100" spc="4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Collaborative</a:t>
            </a:r>
            <a:r>
              <a:rPr dirty="0" sz="1100" spc="4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Multi-agent</a:t>
            </a:r>
            <a:r>
              <a:rPr dirty="0" sz="1100" spc="4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Reinforcement</a:t>
            </a:r>
            <a:r>
              <a:rPr dirty="0" sz="1100" spc="40">
                <a:latin typeface="LM Sans 10"/>
                <a:cs typeface="Arial"/>
              </a:rPr>
              <a:t> </a:t>
            </a:r>
            <a:r>
              <a:rPr dirty="0" sz="1100" spc="-30">
                <a:latin typeface="LM Sans 10"/>
                <a:cs typeface="Arial"/>
              </a:rPr>
              <a:t>Learning-</a:t>
            </a:r>
            <a:r>
              <a:rPr dirty="0" sz="1100">
                <a:latin typeface="LM Sans 10"/>
                <a:cs typeface="Arial"/>
              </a:rPr>
              <a:t>Based</a:t>
            </a:r>
            <a:r>
              <a:rPr dirty="0" sz="1100" spc="4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Framework</a:t>
            </a:r>
            <a:r>
              <a:rPr dirty="0" sz="1100" spc="4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(CREW).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559" y="11414"/>
            <a:ext cx="93599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spc="-10" b="1">
                <a:solidFill>
                  <a:srgbClr val="FFFFFF"/>
                </a:solidFill>
                <a:latin typeface="LM Sans 10"/>
                <a:cs typeface="Calibri"/>
              </a:rPr>
              <a:t>Architecture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260" y="521409"/>
            <a:ext cx="5175097" cy="212179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74406" y="2701987"/>
            <a:ext cx="223139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>
                <a:solidFill>
                  <a:srgbClr val="3333B3"/>
                </a:solidFill>
                <a:latin typeface="LM Sans 10"/>
                <a:cs typeface="Arial"/>
              </a:rPr>
              <a:t>Figure</a:t>
            </a:r>
            <a:r>
              <a:rPr dirty="0" sz="1100" spc="-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</a:rPr>
              <a:t>3: </a:t>
            </a:r>
            <a:r>
              <a:rPr dirty="0" sz="1100" spc="-20">
                <a:latin typeface="LM Sans 10"/>
                <a:cs typeface="Arial"/>
              </a:rPr>
              <a:t>Proposed</a:t>
            </a:r>
            <a:r>
              <a:rPr dirty="0" sz="110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system</a:t>
            </a:r>
            <a:r>
              <a:rPr dirty="0" sz="1100" spc="-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architecture </a:t>
            </a:r>
            <a:r>
              <a:rPr dirty="0" sz="1100" spc="-10">
                <a:latin typeface="LM Sans 10"/>
                <a:cs typeface="Arial"/>
              </a:rPr>
              <a:t>overview.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b="1">
                <a:latin typeface="LM Sans 10"/>
              </a:rPr>
              <a:t>Experimental</a:t>
            </a:r>
            <a:r>
              <a:rPr dirty="0" spc="150" sz="1600" b="1">
                <a:latin typeface="LM Sans 10"/>
              </a:rPr>
              <a:t> </a:t>
            </a:r>
            <a:r>
              <a:rPr dirty="0" sz="1600" b="1">
                <a:latin typeface="LM Sans 10"/>
              </a:rPr>
              <a:t>Setup</a:t>
            </a:r>
            <a:r>
              <a:rPr dirty="0" spc="150" sz="1600" b="1">
                <a:latin typeface="LM Sans 10"/>
              </a:rPr>
              <a:t> </a:t>
            </a:r>
            <a:r>
              <a:rPr dirty="0" sz="1600" b="1">
                <a:latin typeface="LM Sans 10"/>
              </a:rPr>
              <a:t>and</a:t>
            </a:r>
            <a:r>
              <a:rPr dirty="0" spc="150" sz="1600" b="1">
                <a:latin typeface="LM Sans 10"/>
              </a:rPr>
              <a:t> </a:t>
            </a:r>
            <a:r>
              <a:rPr dirty="0" spc="-10" sz="1600" b="1">
                <a:latin typeface="LM Sans 10"/>
              </a:rPr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297" y="531752"/>
            <a:ext cx="4375150" cy="97663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445">
                <a:solidFill>
                  <a:srgbClr val="FF0000"/>
                </a:solidFill>
                <a:latin typeface="LM Sans 10"/>
                <a:cs typeface="Arial"/>
              </a:rPr>
              <a:t>I</a:t>
            </a:r>
            <a:r>
              <a:rPr dirty="0" sz="1100" spc="170">
                <a:solidFill>
                  <a:srgbClr val="FF0000"/>
                </a:solidFill>
                <a:latin typeface="LM Sans 10"/>
                <a:cs typeface="Arial"/>
              </a:rPr>
              <a:t> </a:t>
            </a:r>
            <a:r>
              <a:rPr dirty="0" sz="1100" spc="-110">
                <a:latin typeface="LM Sans 10"/>
                <a:cs typeface="Arial Black"/>
              </a:rPr>
              <a:t>Experimental</a:t>
            </a:r>
            <a:r>
              <a:rPr dirty="0" sz="1100" spc="80">
                <a:latin typeface="LM Sans 10"/>
                <a:cs typeface="Arial Black"/>
              </a:rPr>
              <a:t> </a:t>
            </a:r>
            <a:r>
              <a:rPr dirty="0" sz="1100" spc="-10">
                <a:latin typeface="LM Sans 10"/>
                <a:cs typeface="Arial Black"/>
              </a:rPr>
              <a:t>Setup</a:t>
            </a:r>
            <a:endParaRPr sz="900">
              <a:latin typeface="Arial Black"/>
              <a:cs typeface="Arial Black"/>
            </a:endParaRPr>
          </a:p>
          <a:p>
            <a:pPr marL="217804" indent="-115570">
              <a:lnSpc>
                <a:spcPct val="100000"/>
              </a:lnSpc>
              <a:spcBef>
                <a:spcPts val="125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17804" algn="l"/>
              </a:tabLst>
            </a:pPr>
            <a:r>
              <a:rPr dirty="0" sz="1100" spc="-10">
                <a:latin typeface="LM Sans 10"/>
                <a:cs typeface="Arial"/>
              </a:rPr>
              <a:t>Environment:</a:t>
            </a:r>
            <a:r>
              <a:rPr dirty="0" sz="1100" spc="10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Python</a:t>
            </a:r>
            <a:r>
              <a:rPr dirty="0" sz="1100" spc="1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3.10,</a:t>
            </a:r>
            <a:r>
              <a:rPr dirty="0" sz="1100" spc="1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NVIDIA</a:t>
            </a:r>
            <a:r>
              <a:rPr dirty="0" sz="1100" spc="1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A100</a:t>
            </a:r>
            <a:r>
              <a:rPr dirty="0" sz="1100" spc="1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GPU</a:t>
            </a:r>
            <a:r>
              <a:rPr dirty="0" sz="1100" spc="1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(Train</a:t>
            </a:r>
            <a:r>
              <a:rPr dirty="0" sz="1100" spc="15">
                <a:latin typeface="LM Sans 10"/>
                <a:cs typeface="Arial"/>
              </a:rPr>
              <a:t> </a:t>
            </a:r>
            <a:r>
              <a:rPr dirty="0" sz="1100" spc="95">
                <a:latin typeface="LM Sans 10"/>
                <a:cs typeface="Arial"/>
              </a:rPr>
              <a:t>&amp;</a:t>
            </a:r>
            <a:r>
              <a:rPr dirty="0" sz="1100" spc="1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Infer:</a:t>
            </a:r>
            <a:r>
              <a:rPr dirty="0" sz="1100" spc="105">
                <a:latin typeface="LM Sans 10"/>
                <a:cs typeface="Arial"/>
              </a:rPr>
              <a:t> </a:t>
            </a:r>
            <a:r>
              <a:rPr dirty="0" sz="1100" spc="-25">
                <a:latin typeface="LM Sans 10"/>
                <a:cs typeface="Arial"/>
              </a:rPr>
              <a:t>Qwen-</a:t>
            </a:r>
            <a:r>
              <a:rPr dirty="0" sz="1100" spc="-10">
                <a:latin typeface="LM Sans 10"/>
                <a:cs typeface="Arial"/>
              </a:rPr>
              <a:t>32B-Instruct).</a:t>
            </a:r>
            <a:endParaRPr sz="900">
              <a:latin typeface="Arial"/>
              <a:cs typeface="Arial"/>
            </a:endParaRPr>
          </a:p>
          <a:p>
            <a:pPr marL="217804" indent="-115570">
              <a:lnSpc>
                <a:spcPct val="100000"/>
              </a:lnSpc>
              <a:spcBef>
                <a:spcPts val="125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17804" algn="l"/>
              </a:tabLst>
            </a:pPr>
            <a:r>
              <a:rPr dirty="0" sz="1100">
                <a:latin typeface="LM Sans 10"/>
                <a:cs typeface="Arial"/>
              </a:rPr>
              <a:t>Dataset:</a:t>
            </a:r>
            <a:r>
              <a:rPr dirty="0" sz="1100" spc="75">
                <a:latin typeface="LM Sans 10"/>
                <a:cs typeface="Arial"/>
              </a:rPr>
              <a:t> </a:t>
            </a:r>
            <a:r>
              <a:rPr dirty="0" sz="1100" spc="-25">
                <a:latin typeface="LM Sans 10"/>
                <a:cs typeface="Arial"/>
              </a:rPr>
              <a:t>OARelatedWork</a:t>
            </a:r>
            <a:r>
              <a:rPr dirty="0" sz="1100">
                <a:latin typeface="LM Sans 10"/>
                <a:cs typeface="Arial"/>
              </a:rPr>
              <a:t> </a:t>
            </a:r>
            <a:r>
              <a:rPr dirty="0" sz="1100" spc="-20">
                <a:latin typeface="LM Sans 10"/>
                <a:cs typeface="Arial"/>
                <a:hlinkClick r:id="rId2" action="ppaction://hlinksldjump"/>
              </a:rPr>
              <a:t>[4].</a:t>
            </a:r>
            <a:endParaRPr sz="900">
              <a:latin typeface="Arial"/>
              <a:cs typeface="Arial"/>
            </a:endParaRPr>
          </a:p>
          <a:p>
            <a:pPr marL="217804" indent="-115570">
              <a:lnSpc>
                <a:spcPct val="100000"/>
              </a:lnSpc>
              <a:spcBef>
                <a:spcPts val="125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17804" algn="l"/>
              </a:tabLst>
            </a:pPr>
            <a:r>
              <a:rPr dirty="0" sz="1100">
                <a:latin typeface="LM Sans 10"/>
                <a:cs typeface="Arial"/>
              </a:rPr>
              <a:t>Metrics:</a:t>
            </a:r>
            <a:r>
              <a:rPr dirty="0" sz="1100" spc="110">
                <a:latin typeface="LM Sans 10"/>
                <a:cs typeface="Arial"/>
              </a:rPr>
              <a:t> </a:t>
            </a:r>
            <a:r>
              <a:rPr dirty="0" sz="1100" spc="-35">
                <a:latin typeface="LM Sans 10"/>
                <a:cs typeface="Arial"/>
              </a:rPr>
              <a:t>LLM-</a:t>
            </a:r>
            <a:r>
              <a:rPr dirty="0" sz="1100" spc="-30">
                <a:latin typeface="LM Sans 10"/>
                <a:cs typeface="Arial"/>
              </a:rPr>
              <a:t>as-</a:t>
            </a:r>
            <a:r>
              <a:rPr dirty="0" sz="1100" spc="-20">
                <a:latin typeface="LM Sans 10"/>
                <a:cs typeface="Arial"/>
              </a:rPr>
              <a:t>a-</a:t>
            </a:r>
            <a:r>
              <a:rPr dirty="0" sz="1100" spc="-10">
                <a:latin typeface="LM Sans 10"/>
                <a:cs typeface="Arial"/>
              </a:rPr>
              <a:t>Judge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(inc.</a:t>
            </a:r>
            <a:r>
              <a:rPr dirty="0" sz="1100" spc="110">
                <a:latin typeface="LM Sans 10"/>
                <a:cs typeface="Arial"/>
              </a:rPr>
              <a:t> </a:t>
            </a:r>
            <a:r>
              <a:rPr dirty="0" sz="1100" spc="-40">
                <a:latin typeface="LM Sans 10"/>
                <a:cs typeface="Arial"/>
              </a:rPr>
              <a:t>Coverage,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Logic,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 spc="-40">
                <a:latin typeface="LM Sans 10"/>
                <a:cs typeface="Arial"/>
              </a:rPr>
              <a:t>Relevance)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 spc="-20">
                <a:latin typeface="LM Sans 10"/>
                <a:cs typeface="Arial"/>
                <a:hlinkClick r:id="rId2" action="ppaction://hlinksldjump"/>
              </a:rPr>
              <a:t>[3].</a:t>
            </a:r>
            <a:endParaRPr sz="900">
              <a:latin typeface="Arial"/>
              <a:cs typeface="Arial"/>
            </a:endParaRPr>
          </a:p>
          <a:p>
            <a:pPr marL="217804" indent="-115570">
              <a:lnSpc>
                <a:spcPct val="100000"/>
              </a:lnSpc>
              <a:spcBef>
                <a:spcPts val="125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17804" algn="l"/>
              </a:tabLst>
            </a:pPr>
            <a:r>
              <a:rPr dirty="0" sz="1100" spc="-35">
                <a:latin typeface="LM Sans 10"/>
                <a:cs typeface="Arial"/>
              </a:rPr>
              <a:t>Baselines:</a:t>
            </a:r>
            <a:r>
              <a:rPr dirty="0" sz="1100" spc="11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PRIMERA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  <a:hlinkClick r:id="rId2" action="ppaction://hlinksldjump"/>
              </a:rPr>
              <a:t>[2],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 spc="-25">
                <a:latin typeface="LM Sans 10"/>
                <a:cs typeface="Arial"/>
              </a:rPr>
              <a:t>GPT-</a:t>
            </a:r>
            <a:r>
              <a:rPr dirty="0" sz="1100">
                <a:latin typeface="LM Sans 10"/>
                <a:cs typeface="Arial"/>
              </a:rPr>
              <a:t>4o,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 spc="-30">
                <a:latin typeface="LM Sans 10"/>
                <a:cs typeface="Arial"/>
              </a:rPr>
              <a:t>Select-</a:t>
            </a:r>
            <a:r>
              <a:rPr dirty="0" sz="1100">
                <a:latin typeface="LM Sans 10"/>
                <a:cs typeface="Arial"/>
              </a:rPr>
              <a:t>RW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 spc="-20">
                <a:latin typeface="LM Sans 10"/>
                <a:cs typeface="Arial"/>
                <a:hlinkClick r:id="rId2" action="ppaction://hlinksldjump"/>
              </a:rPr>
              <a:t>[3].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dirty="0" sz="1100" spc="445">
                <a:solidFill>
                  <a:srgbClr val="FF0000"/>
                </a:solidFill>
                <a:latin typeface="LM Sans 10"/>
                <a:cs typeface="Arial"/>
              </a:rPr>
              <a:t>I</a:t>
            </a:r>
            <a:r>
              <a:rPr dirty="0" sz="1100" spc="110">
                <a:solidFill>
                  <a:srgbClr val="FF0000"/>
                </a:solidFill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 Black"/>
              </a:rPr>
              <a:t>Results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2547" y="1698447"/>
            <a:ext cx="2062480" cy="0"/>
          </a:xfrm>
          <a:custGeom>
            <a:avLst/>
            <a:gdLst/>
            <a:ahLst/>
            <a:cxnLst/>
            <a:rect l="l" t="t" r="r" b="b"/>
            <a:pathLst>
              <a:path w="2062480" h="0">
                <a:moveTo>
                  <a:pt x="0" y="0"/>
                </a:moveTo>
                <a:lnTo>
                  <a:pt x="2062086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25754" y="1717362"/>
            <a:ext cx="2451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45">
                <a:latin typeface="LM Sans 10"/>
                <a:cs typeface="Arial Black"/>
              </a:rPr>
              <a:t>Model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552" y="1543156"/>
            <a:ext cx="841375" cy="290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5"/>
              </a:spcBef>
            </a:pPr>
            <a:r>
              <a:rPr dirty="0" sz="1100" spc="-10">
                <a:solidFill>
                  <a:srgbClr val="3333B3"/>
                </a:solidFill>
                <a:latin typeface="LM Sans 10"/>
                <a:cs typeface="Arial"/>
              </a:rPr>
              <a:t>Table</a:t>
            </a:r>
            <a:r>
              <a:rPr dirty="0" sz="1100" spc="20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</a:rPr>
              <a:t>1.</a:t>
            </a:r>
            <a:r>
              <a:rPr dirty="0" sz="1100" spc="8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Effectiveness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  <a:tabLst>
                <a:tab pos="320675" algn="l"/>
                <a:tab pos="629920" algn="l"/>
              </a:tabLst>
            </a:pPr>
            <a:r>
              <a:rPr dirty="0" sz="1100" spc="-20">
                <a:latin typeface="LM Sans 10"/>
                <a:cs typeface="Arial Black"/>
              </a:rPr>
              <a:t>Cov.</a:t>
            </a:r>
            <a:r>
              <a:rPr dirty="0" sz="1100">
                <a:latin typeface="LM Sans 10"/>
                <a:cs typeface="Arial Black"/>
              </a:rPr>
              <a:t>	</a:t>
            </a:r>
            <a:r>
              <a:rPr dirty="0" sz="1100" spc="-20">
                <a:latin typeface="LM Sans 10"/>
                <a:cs typeface="Arial Black"/>
              </a:rPr>
              <a:t>Log.</a:t>
            </a:r>
            <a:r>
              <a:rPr dirty="0" sz="1100">
                <a:latin typeface="LM Sans 10"/>
                <a:cs typeface="Arial Black"/>
              </a:rPr>
              <a:t>	</a:t>
            </a:r>
            <a:r>
              <a:rPr dirty="0" sz="1100" spc="-20">
                <a:latin typeface="LM Sans 10"/>
                <a:cs typeface="Arial Black"/>
              </a:rPr>
              <a:t>Rel.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4687" y="1717362"/>
            <a:ext cx="1822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35">
                <a:latin typeface="LM Sans 10"/>
                <a:cs typeface="Arial Black"/>
              </a:rPr>
              <a:t>Avg.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67403" y="1717362"/>
            <a:ext cx="1797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0">
                <a:latin typeface="LM Sans 10"/>
                <a:cs typeface="Arial Black"/>
              </a:rPr>
              <a:t>Tok.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2547" y="1860613"/>
            <a:ext cx="2062480" cy="0"/>
          </a:xfrm>
          <a:custGeom>
            <a:avLst/>
            <a:gdLst/>
            <a:ahLst/>
            <a:cxnLst/>
            <a:rect l="l" t="t" r="r" b="b"/>
            <a:pathLst>
              <a:path w="2062480" h="0">
                <a:moveTo>
                  <a:pt x="0" y="0"/>
                </a:moveTo>
                <a:lnTo>
                  <a:pt x="2062086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25754" y="1877446"/>
            <a:ext cx="381635" cy="2940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10160">
              <a:lnSpc>
                <a:spcPts val="700"/>
              </a:lnSpc>
              <a:spcBef>
                <a:spcPts val="135"/>
              </a:spcBef>
            </a:pPr>
            <a:r>
              <a:rPr dirty="0" sz="1100" spc="-10">
                <a:latin typeface="LM Sans 10"/>
                <a:cs typeface="Arial"/>
              </a:rPr>
              <a:t>PRIMERA</a:t>
            </a:r>
            <a:r>
              <a:rPr dirty="0" sz="1100" spc="50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GPT-</a:t>
            </a:r>
            <a:r>
              <a:rPr dirty="0" sz="1100" spc="-25">
                <a:latin typeface="LM Sans 10"/>
                <a:cs typeface="Arial"/>
              </a:rPr>
              <a:t>4o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75"/>
              </a:lnSpc>
            </a:pPr>
            <a:r>
              <a:rPr dirty="0" sz="1100" spc="-10">
                <a:latin typeface="LM Sans 10"/>
                <a:cs typeface="Arial"/>
              </a:rPr>
              <a:t>Select-</a:t>
            </a:r>
            <a:r>
              <a:rPr dirty="0" sz="1100" spc="-25">
                <a:latin typeface="LM Sans 10"/>
                <a:cs typeface="Arial"/>
              </a:rPr>
              <a:t>RW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0005" y="1877446"/>
            <a:ext cx="141859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  <a:tabLst>
                <a:tab pos="317500" algn="l"/>
                <a:tab pos="619125" algn="l"/>
                <a:tab pos="923290" algn="l"/>
                <a:tab pos="1228090" algn="l"/>
              </a:tabLst>
            </a:pPr>
            <a:r>
              <a:rPr dirty="0" sz="1100" spc="-20">
                <a:latin typeface="LM Sans 10"/>
                <a:cs typeface="Arial"/>
              </a:rPr>
              <a:t>2.48</a:t>
            </a:r>
            <a:r>
              <a:rPr dirty="0" sz="1100">
                <a:latin typeface="LM Sans 10"/>
                <a:cs typeface="Arial"/>
              </a:rPr>
              <a:t>	</a:t>
            </a:r>
            <a:r>
              <a:rPr dirty="0" sz="1100" spc="-20">
                <a:latin typeface="LM Sans 10"/>
                <a:cs typeface="Arial"/>
              </a:rPr>
              <a:t>2.71</a:t>
            </a:r>
            <a:r>
              <a:rPr dirty="0" sz="1100">
                <a:latin typeface="LM Sans 10"/>
                <a:cs typeface="Arial"/>
              </a:rPr>
              <a:t>	</a:t>
            </a:r>
            <a:r>
              <a:rPr dirty="0" sz="1100" spc="-20">
                <a:latin typeface="LM Sans 10"/>
                <a:cs typeface="Arial"/>
              </a:rPr>
              <a:t>3.02</a:t>
            </a:r>
            <a:r>
              <a:rPr dirty="0" sz="1100">
                <a:latin typeface="LM Sans 10"/>
                <a:cs typeface="Arial"/>
              </a:rPr>
              <a:t>	</a:t>
            </a:r>
            <a:r>
              <a:rPr dirty="0" sz="1100" spc="-20">
                <a:latin typeface="LM Sans 10"/>
                <a:cs typeface="Arial"/>
              </a:rPr>
              <a:t>2.64</a:t>
            </a:r>
            <a:r>
              <a:rPr dirty="0" sz="1100">
                <a:latin typeface="LM Sans 10"/>
                <a:cs typeface="Arial"/>
              </a:rPr>
              <a:t>	</a:t>
            </a:r>
            <a:r>
              <a:rPr dirty="0" sz="1100" spc="-20">
                <a:latin typeface="LM Sans 10"/>
                <a:cs typeface="Arial"/>
              </a:rPr>
              <a:t>186K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  <a:tabLst>
                <a:tab pos="317500" algn="l"/>
                <a:tab pos="619125" algn="l"/>
                <a:tab pos="923290" algn="l"/>
                <a:tab pos="1236980" algn="l"/>
              </a:tabLst>
            </a:pPr>
            <a:r>
              <a:rPr dirty="0" sz="1100" spc="-20">
                <a:latin typeface="LM Sans 10"/>
                <a:cs typeface="Arial"/>
              </a:rPr>
              <a:t>3.18</a:t>
            </a:r>
            <a:r>
              <a:rPr dirty="0" sz="1100">
                <a:latin typeface="LM Sans 10"/>
                <a:cs typeface="Arial"/>
              </a:rPr>
              <a:t>	</a:t>
            </a:r>
            <a:r>
              <a:rPr dirty="0" sz="1100" spc="-20">
                <a:latin typeface="LM Sans 10"/>
                <a:cs typeface="Arial"/>
              </a:rPr>
              <a:t>4.08</a:t>
            </a:r>
            <a:r>
              <a:rPr dirty="0" sz="1100">
                <a:latin typeface="LM Sans 10"/>
                <a:cs typeface="Arial"/>
              </a:rPr>
              <a:t>	</a:t>
            </a:r>
            <a:r>
              <a:rPr dirty="0" sz="1100" spc="-20">
                <a:latin typeface="LM Sans 10"/>
                <a:cs typeface="Arial"/>
              </a:rPr>
              <a:t>3.96</a:t>
            </a:r>
            <a:r>
              <a:rPr dirty="0" sz="1100">
                <a:latin typeface="LM Sans 10"/>
                <a:cs typeface="Arial"/>
              </a:rPr>
              <a:t>	</a:t>
            </a:r>
            <a:r>
              <a:rPr dirty="0" sz="1100" spc="-20">
                <a:latin typeface="LM Sans 10"/>
                <a:cs typeface="Arial"/>
              </a:rPr>
              <a:t>3.36</a:t>
            </a:r>
            <a:r>
              <a:rPr dirty="0" sz="1100">
                <a:latin typeface="LM Sans 10"/>
                <a:cs typeface="Arial"/>
              </a:rPr>
              <a:t>	</a:t>
            </a:r>
            <a:r>
              <a:rPr dirty="0" sz="1100" spc="-20">
                <a:latin typeface="LM Sans 10"/>
                <a:cs typeface="Arial"/>
              </a:rPr>
              <a:t>2.1K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  <a:tabLst>
                <a:tab pos="317500" algn="l"/>
                <a:tab pos="619125" algn="l"/>
                <a:tab pos="923290" algn="l"/>
                <a:tab pos="1228090" algn="l"/>
              </a:tabLst>
            </a:pPr>
            <a:r>
              <a:rPr dirty="0" sz="1100" spc="-20">
                <a:latin typeface="LM Sans 10"/>
                <a:cs typeface="Arial"/>
              </a:rPr>
              <a:t>3.36</a:t>
            </a:r>
            <a:r>
              <a:rPr dirty="0" sz="1100">
                <a:latin typeface="LM Sans 10"/>
                <a:cs typeface="Arial"/>
              </a:rPr>
              <a:t>	</a:t>
            </a:r>
            <a:r>
              <a:rPr dirty="0" sz="1100" spc="-20">
                <a:latin typeface="LM Sans 10"/>
                <a:cs typeface="Arial"/>
              </a:rPr>
              <a:t>4.21</a:t>
            </a:r>
            <a:r>
              <a:rPr dirty="0" sz="1100">
                <a:latin typeface="LM Sans 10"/>
                <a:cs typeface="Arial"/>
              </a:rPr>
              <a:t>	</a:t>
            </a:r>
            <a:r>
              <a:rPr dirty="0" sz="1100" spc="-20">
                <a:latin typeface="LM Sans 10"/>
                <a:cs typeface="Arial"/>
              </a:rPr>
              <a:t>4.18</a:t>
            </a:r>
            <a:r>
              <a:rPr dirty="0" sz="1100">
                <a:latin typeface="LM Sans 10"/>
                <a:cs typeface="Arial"/>
              </a:rPr>
              <a:t>	</a:t>
            </a:r>
            <a:r>
              <a:rPr dirty="0" sz="1100" spc="-20">
                <a:latin typeface="LM Sans 10"/>
                <a:cs typeface="Arial"/>
              </a:rPr>
              <a:t>3.53</a:t>
            </a:r>
            <a:r>
              <a:rPr dirty="0" sz="1100">
                <a:latin typeface="LM Sans 10"/>
                <a:cs typeface="Arial"/>
              </a:rPr>
              <a:t>	</a:t>
            </a:r>
            <a:r>
              <a:rPr dirty="0" sz="1100" spc="-20">
                <a:latin typeface="LM Sans 10"/>
                <a:cs typeface="Arial"/>
              </a:rPr>
              <a:t>186K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62547" y="2197836"/>
            <a:ext cx="2062480" cy="0"/>
          </a:xfrm>
          <a:custGeom>
            <a:avLst/>
            <a:gdLst/>
            <a:ahLst/>
            <a:cxnLst/>
            <a:rect l="l" t="t" r="r" b="b"/>
            <a:pathLst>
              <a:path w="2062480" h="0">
                <a:moveTo>
                  <a:pt x="0" y="0"/>
                </a:moveTo>
                <a:lnTo>
                  <a:pt x="2062086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62547" y="2360002"/>
            <a:ext cx="2062480" cy="0"/>
          </a:xfrm>
          <a:custGeom>
            <a:avLst/>
            <a:gdLst/>
            <a:ahLst/>
            <a:cxnLst/>
            <a:rect l="l" t="t" r="r" b="b"/>
            <a:pathLst>
              <a:path w="2062480" h="0">
                <a:moveTo>
                  <a:pt x="0" y="0"/>
                </a:moveTo>
                <a:lnTo>
                  <a:pt x="2062086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631706" y="1698447"/>
            <a:ext cx="2886710" cy="0"/>
          </a:xfrm>
          <a:custGeom>
            <a:avLst/>
            <a:gdLst/>
            <a:ahLst/>
            <a:cxnLst/>
            <a:rect l="l" t="t" r="r" b="b"/>
            <a:pathLst>
              <a:path w="2886710" h="0">
                <a:moveTo>
                  <a:pt x="0" y="0"/>
                </a:moveTo>
                <a:lnTo>
                  <a:pt x="2886379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694914" y="1717362"/>
            <a:ext cx="249554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5">
                <a:latin typeface="LM Sans 10"/>
                <a:cs typeface="Arial Black"/>
              </a:rPr>
              <a:t>Config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90925" y="1717362"/>
            <a:ext cx="1822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45">
                <a:latin typeface="LM Sans 10"/>
                <a:cs typeface="Arial Black"/>
              </a:rPr>
              <a:t>Cov.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55059" y="1543156"/>
            <a:ext cx="840105" cy="290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>
                <a:solidFill>
                  <a:srgbClr val="3333B3"/>
                </a:solidFill>
                <a:latin typeface="LM Sans 10"/>
                <a:cs typeface="Arial"/>
              </a:rPr>
              <a:t>Table</a:t>
            </a:r>
            <a:r>
              <a:rPr dirty="0" sz="1100" spc="40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</a:rPr>
              <a:t>2.</a:t>
            </a:r>
            <a:r>
              <a:rPr dirty="0" sz="1100" spc="110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Ablation</a:t>
            </a:r>
            <a:r>
              <a:rPr dirty="0" sz="1100" spc="4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Study</a:t>
            </a:r>
            <a:endParaRPr sz="600">
              <a:latin typeface="Arial"/>
              <a:cs typeface="Arial"/>
            </a:endParaRPr>
          </a:p>
          <a:p>
            <a:pPr marL="165735">
              <a:lnSpc>
                <a:spcPct val="100000"/>
              </a:lnSpc>
              <a:spcBef>
                <a:spcPts val="655"/>
              </a:spcBef>
              <a:tabLst>
                <a:tab pos="688340" algn="l"/>
              </a:tabLst>
            </a:pPr>
            <a:r>
              <a:rPr dirty="0" sz="1100" spc="-20">
                <a:latin typeface="LM Sans 10"/>
                <a:cs typeface="Arial Black"/>
              </a:rPr>
              <a:t>Log.</a:t>
            </a:r>
            <a:r>
              <a:rPr dirty="0" sz="1100">
                <a:latin typeface="LM Sans 10"/>
                <a:cs typeface="Arial Black"/>
              </a:rPr>
              <a:t>	</a:t>
            </a:r>
            <a:r>
              <a:rPr dirty="0" sz="1100" spc="-35">
                <a:latin typeface="LM Sans 10"/>
                <a:cs typeface="Arial Black"/>
              </a:rPr>
              <a:t>Rel.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34814" y="1717362"/>
            <a:ext cx="1822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35">
                <a:latin typeface="LM Sans 10"/>
                <a:cs typeface="Arial Black"/>
              </a:rPr>
              <a:t>Avg.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60850" y="1717362"/>
            <a:ext cx="1797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0">
                <a:latin typeface="LM Sans 10"/>
                <a:cs typeface="Arial Black"/>
              </a:rPr>
              <a:t>Tok.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631706" y="1860613"/>
            <a:ext cx="2886710" cy="0"/>
          </a:xfrm>
          <a:custGeom>
            <a:avLst/>
            <a:gdLst/>
            <a:ahLst/>
            <a:cxnLst/>
            <a:rect l="l" t="t" r="r" b="b"/>
            <a:pathLst>
              <a:path w="2886710" h="0">
                <a:moveTo>
                  <a:pt x="0" y="0"/>
                </a:moveTo>
                <a:lnTo>
                  <a:pt x="2886379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694914" y="1877446"/>
            <a:ext cx="366395" cy="2940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35"/>
              </a:spcBef>
            </a:pPr>
            <a:r>
              <a:rPr dirty="0" sz="1100">
                <a:latin typeface="LM Sans 10"/>
                <a:cs typeface="Arial"/>
              </a:rPr>
              <a:t>w/o</a:t>
            </a:r>
            <a:r>
              <a:rPr dirty="0" sz="1100" spc="170">
                <a:latin typeface="LM Sans 10"/>
                <a:cs typeface="Arial"/>
              </a:rPr>
              <a:t> </a:t>
            </a:r>
            <a:r>
              <a:rPr dirty="0" sz="1100" spc="-20">
                <a:latin typeface="LM Sans 10"/>
                <a:cs typeface="Arial"/>
              </a:rPr>
              <a:t>Draft</a:t>
            </a:r>
            <a:r>
              <a:rPr dirty="0" sz="1100" spc="50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w/o</a:t>
            </a:r>
            <a:r>
              <a:rPr dirty="0" sz="1100" spc="170">
                <a:latin typeface="LM Sans 10"/>
                <a:cs typeface="Arial"/>
              </a:rPr>
              <a:t> </a:t>
            </a:r>
            <a:r>
              <a:rPr dirty="0" sz="1100" spc="-20">
                <a:latin typeface="LM Sans 10"/>
                <a:cs typeface="Arial"/>
              </a:rPr>
              <a:t>Crit.</a:t>
            </a:r>
            <a:r>
              <a:rPr dirty="0" sz="1100" spc="50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w/o</a:t>
            </a:r>
            <a:r>
              <a:rPr dirty="0" sz="1100" spc="170">
                <a:latin typeface="LM Sans 10"/>
                <a:cs typeface="Arial"/>
              </a:rPr>
              <a:t> </a:t>
            </a:r>
            <a:r>
              <a:rPr dirty="0" sz="1100" spc="-25">
                <a:latin typeface="LM Sans 10"/>
                <a:cs typeface="Arial"/>
              </a:rPr>
              <a:t>BB.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87680" y="1877446"/>
            <a:ext cx="38862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1100">
                <a:latin typeface="LM Sans 10"/>
                <a:cs typeface="Arial"/>
              </a:rPr>
              <a:t>3.41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100" spc="-20">
                <a:solidFill>
                  <a:srgbClr val="FF0000"/>
                </a:solidFill>
                <a:latin typeface="LM Sans 10"/>
                <a:cs typeface="Arial"/>
              </a:rPr>
              <a:t>.21)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1100">
                <a:latin typeface="LM Sans 10"/>
                <a:cs typeface="Arial"/>
              </a:rPr>
              <a:t>3.35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100" spc="-20">
                <a:solidFill>
                  <a:srgbClr val="FF0000"/>
                </a:solidFill>
                <a:latin typeface="LM Sans 10"/>
                <a:cs typeface="Arial"/>
              </a:rPr>
              <a:t>.27)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1100">
                <a:latin typeface="LM Sans 10"/>
                <a:cs typeface="Arial"/>
              </a:rPr>
              <a:t>3.29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100" spc="-20">
                <a:solidFill>
                  <a:srgbClr val="FF0000"/>
                </a:solidFill>
                <a:latin typeface="LM Sans 10"/>
                <a:cs typeface="Arial"/>
              </a:rPr>
              <a:t>.33)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02316" y="1877446"/>
            <a:ext cx="38862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1100">
                <a:latin typeface="LM Sans 10"/>
                <a:cs typeface="Arial"/>
              </a:rPr>
              <a:t>4.02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100" spc="-20">
                <a:solidFill>
                  <a:srgbClr val="FF0000"/>
                </a:solidFill>
                <a:latin typeface="LM Sans 10"/>
                <a:cs typeface="Arial"/>
              </a:rPr>
              <a:t>.37)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1100">
                <a:latin typeface="LM Sans 10"/>
                <a:cs typeface="Arial"/>
              </a:rPr>
              <a:t>4.08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100" spc="-20">
                <a:solidFill>
                  <a:srgbClr val="FF0000"/>
                </a:solidFill>
                <a:latin typeface="LM Sans 10"/>
                <a:cs typeface="Arial"/>
              </a:rPr>
              <a:t>.31)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1100">
                <a:latin typeface="LM Sans 10"/>
                <a:cs typeface="Arial"/>
              </a:rPr>
              <a:t>3.95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100" spc="-20">
                <a:solidFill>
                  <a:srgbClr val="FF0000"/>
                </a:solidFill>
                <a:latin typeface="LM Sans 10"/>
                <a:cs typeface="Arial"/>
              </a:rPr>
              <a:t>.44)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16946" y="1877446"/>
            <a:ext cx="38862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1100">
                <a:latin typeface="LM Sans 10"/>
                <a:cs typeface="Arial"/>
              </a:rPr>
              <a:t>4.10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100" spc="-20">
                <a:solidFill>
                  <a:srgbClr val="FF0000"/>
                </a:solidFill>
                <a:latin typeface="LM Sans 10"/>
                <a:cs typeface="Arial"/>
              </a:rPr>
              <a:t>.21)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1100">
                <a:latin typeface="LM Sans 10"/>
                <a:cs typeface="Arial"/>
              </a:rPr>
              <a:t>4.02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100" spc="-20">
                <a:solidFill>
                  <a:srgbClr val="FF0000"/>
                </a:solidFill>
                <a:latin typeface="LM Sans 10"/>
                <a:cs typeface="Arial"/>
              </a:rPr>
              <a:t>.29)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1100">
                <a:latin typeface="LM Sans 10"/>
                <a:cs typeface="Arial"/>
              </a:rPr>
              <a:t>3.98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100" spc="-20">
                <a:solidFill>
                  <a:srgbClr val="FF0000"/>
                </a:solidFill>
                <a:latin typeface="LM Sans 10"/>
                <a:cs typeface="Arial"/>
              </a:rPr>
              <a:t>.33)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31575" y="1877446"/>
            <a:ext cx="38862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1100">
                <a:latin typeface="LM Sans 10"/>
                <a:cs typeface="Arial"/>
              </a:rPr>
              <a:t>3.50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100" spc="-20">
                <a:solidFill>
                  <a:srgbClr val="FF0000"/>
                </a:solidFill>
                <a:latin typeface="LM Sans 10"/>
                <a:cs typeface="Arial"/>
              </a:rPr>
              <a:t>.27)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1100">
                <a:latin typeface="LM Sans 10"/>
                <a:cs typeface="Arial"/>
              </a:rPr>
              <a:t>3.42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100" spc="-20">
                <a:solidFill>
                  <a:srgbClr val="FF0000"/>
                </a:solidFill>
                <a:latin typeface="LM Sans 10"/>
                <a:cs typeface="Arial"/>
              </a:rPr>
              <a:t>.35)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1100">
                <a:latin typeface="LM Sans 10"/>
                <a:cs typeface="Arial"/>
              </a:rPr>
              <a:t>3.35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100" spc="-20">
                <a:solidFill>
                  <a:srgbClr val="FF0000"/>
                </a:solidFill>
                <a:latin typeface="LM Sans 10"/>
                <a:cs typeface="Arial"/>
              </a:rPr>
              <a:t>.42)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249354" y="1877446"/>
            <a:ext cx="202565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1100" spc="-20">
                <a:latin typeface="LM Sans 10"/>
                <a:cs typeface="Arial"/>
              </a:rPr>
              <a:t>150K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1100" spc="-20">
                <a:latin typeface="LM Sans 10"/>
                <a:cs typeface="Arial"/>
              </a:rPr>
              <a:t>143K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1100" spc="-20">
                <a:latin typeface="LM Sans 10"/>
                <a:cs typeface="Arial"/>
              </a:rPr>
              <a:t>160K</a:t>
            </a:r>
            <a:endParaRPr sz="6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631706" y="2197836"/>
            <a:ext cx="2886710" cy="0"/>
          </a:xfrm>
          <a:custGeom>
            <a:avLst/>
            <a:gdLst/>
            <a:ahLst/>
            <a:cxnLst/>
            <a:rect l="l" t="t" r="r" b="b"/>
            <a:pathLst>
              <a:path w="2886710" h="0">
                <a:moveTo>
                  <a:pt x="0" y="0"/>
                </a:moveTo>
                <a:lnTo>
                  <a:pt x="2886379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631706" y="2360002"/>
            <a:ext cx="2886710" cy="0"/>
          </a:xfrm>
          <a:custGeom>
            <a:avLst/>
            <a:gdLst/>
            <a:ahLst/>
            <a:cxnLst/>
            <a:rect l="l" t="t" r="r" b="b"/>
            <a:pathLst>
              <a:path w="2886710" h="0">
                <a:moveTo>
                  <a:pt x="0" y="0"/>
                </a:moveTo>
                <a:lnTo>
                  <a:pt x="2886379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28536" y="2468537"/>
            <a:ext cx="5436235" cy="0"/>
          </a:xfrm>
          <a:custGeom>
            <a:avLst/>
            <a:gdLst/>
            <a:ahLst/>
            <a:cxnLst/>
            <a:rect l="l" t="t" r="r" b="b"/>
            <a:pathLst>
              <a:path w="5436235" h="0">
                <a:moveTo>
                  <a:pt x="0" y="0"/>
                </a:moveTo>
                <a:lnTo>
                  <a:pt x="54359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15836" y="2214669"/>
            <a:ext cx="5461635" cy="51180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2250">
              <a:lnSpc>
                <a:spcPct val="100000"/>
              </a:lnSpc>
              <a:spcBef>
                <a:spcPts val="95"/>
              </a:spcBef>
              <a:tabLst>
                <a:tab pos="734060" algn="l"/>
                <a:tab pos="1039494" algn="l"/>
                <a:tab pos="1341120" algn="l"/>
                <a:tab pos="1645285" algn="l"/>
                <a:tab pos="1949450" algn="l"/>
                <a:tab pos="2591435" algn="l"/>
                <a:tab pos="3191510" algn="l"/>
                <a:tab pos="3705860" algn="l"/>
                <a:tab pos="4220845" algn="l"/>
                <a:tab pos="4735195" algn="l"/>
                <a:tab pos="5142865" algn="l"/>
              </a:tabLst>
            </a:pPr>
            <a:r>
              <a:rPr dirty="0" sz="1100" spc="-20">
                <a:latin typeface="LM Sans 10"/>
                <a:cs typeface="Arial Black"/>
              </a:rPr>
              <a:t>CREW</a:t>
            </a:r>
            <a:r>
              <a:rPr dirty="0" sz="1100">
                <a:latin typeface="LM Sans 10"/>
                <a:cs typeface="Arial Black"/>
              </a:rPr>
              <a:t>	</a:t>
            </a:r>
            <a:r>
              <a:rPr dirty="0" sz="1100" spc="-20">
                <a:latin typeface="LM Sans 10"/>
                <a:cs typeface="Arial Black"/>
              </a:rPr>
              <a:t>3.62</a:t>
            </a:r>
            <a:r>
              <a:rPr dirty="0" sz="1100">
                <a:latin typeface="LM Sans 10"/>
                <a:cs typeface="Arial Black"/>
              </a:rPr>
              <a:t>	</a:t>
            </a:r>
            <a:r>
              <a:rPr dirty="0" sz="1100" spc="-20">
                <a:latin typeface="LM Sans 10"/>
                <a:cs typeface="Arial Black"/>
              </a:rPr>
              <a:t>4.39</a:t>
            </a:r>
            <a:r>
              <a:rPr dirty="0" sz="1100">
                <a:latin typeface="LM Sans 10"/>
                <a:cs typeface="Arial Black"/>
              </a:rPr>
              <a:t>	</a:t>
            </a:r>
            <a:r>
              <a:rPr dirty="0" sz="1100" spc="-20">
                <a:latin typeface="LM Sans 10"/>
                <a:cs typeface="Arial Black"/>
              </a:rPr>
              <a:t>4.31</a:t>
            </a:r>
            <a:r>
              <a:rPr dirty="0" sz="1100">
                <a:latin typeface="LM Sans 10"/>
                <a:cs typeface="Arial Black"/>
              </a:rPr>
              <a:t>	</a:t>
            </a:r>
            <a:r>
              <a:rPr dirty="0" sz="1100" spc="-20">
                <a:latin typeface="LM Sans 10"/>
                <a:cs typeface="Arial Black"/>
              </a:rPr>
              <a:t>3.77</a:t>
            </a:r>
            <a:r>
              <a:rPr dirty="0" sz="1100">
                <a:latin typeface="LM Sans 10"/>
                <a:cs typeface="Arial Black"/>
              </a:rPr>
              <a:t>	</a:t>
            </a:r>
            <a:r>
              <a:rPr dirty="0" sz="1100" spc="-20">
                <a:latin typeface="LM Sans 10"/>
                <a:cs typeface="Arial Black"/>
              </a:rPr>
              <a:t>153K</a:t>
            </a:r>
            <a:r>
              <a:rPr dirty="0" sz="1100">
                <a:latin typeface="LM Sans 10"/>
                <a:cs typeface="Arial Black"/>
              </a:rPr>
              <a:t>	</a:t>
            </a:r>
            <a:r>
              <a:rPr dirty="0" sz="1100" spc="-20">
                <a:latin typeface="LM Sans 10"/>
                <a:cs typeface="Arial Black"/>
              </a:rPr>
              <a:t>CREW</a:t>
            </a:r>
            <a:r>
              <a:rPr dirty="0" sz="1100">
                <a:latin typeface="LM Sans 10"/>
                <a:cs typeface="Arial Black"/>
              </a:rPr>
              <a:t>	</a:t>
            </a:r>
            <a:r>
              <a:rPr dirty="0" sz="1100" spc="-20">
                <a:latin typeface="LM Sans 10"/>
                <a:cs typeface="Arial Black"/>
              </a:rPr>
              <a:t>3.62</a:t>
            </a:r>
            <a:r>
              <a:rPr dirty="0" sz="1100">
                <a:latin typeface="LM Sans 10"/>
                <a:cs typeface="Arial Black"/>
              </a:rPr>
              <a:t>	</a:t>
            </a:r>
            <a:r>
              <a:rPr dirty="0" sz="1100" spc="-20">
                <a:latin typeface="LM Sans 10"/>
                <a:cs typeface="Arial Black"/>
              </a:rPr>
              <a:t>4.39</a:t>
            </a:r>
            <a:r>
              <a:rPr dirty="0" sz="1100">
                <a:latin typeface="LM Sans 10"/>
                <a:cs typeface="Arial Black"/>
              </a:rPr>
              <a:t>	</a:t>
            </a:r>
            <a:r>
              <a:rPr dirty="0" sz="1100" spc="-20">
                <a:latin typeface="LM Sans 10"/>
                <a:cs typeface="Arial Black"/>
              </a:rPr>
              <a:t>4.31</a:t>
            </a:r>
            <a:r>
              <a:rPr dirty="0" sz="1100">
                <a:latin typeface="LM Sans 10"/>
                <a:cs typeface="Arial Black"/>
              </a:rPr>
              <a:t>	</a:t>
            </a:r>
            <a:r>
              <a:rPr dirty="0" sz="1100" spc="-20">
                <a:latin typeface="LM Sans 10"/>
                <a:cs typeface="Arial Black"/>
              </a:rPr>
              <a:t>3.77</a:t>
            </a:r>
            <a:r>
              <a:rPr dirty="0" sz="1100">
                <a:latin typeface="LM Sans 10"/>
                <a:cs typeface="Arial Black"/>
              </a:rPr>
              <a:t>	</a:t>
            </a:r>
            <a:r>
              <a:rPr dirty="0" sz="1100" spc="-20">
                <a:latin typeface="LM Sans 10"/>
                <a:cs typeface="Arial Black"/>
              </a:rPr>
              <a:t>153K</a:t>
            </a:r>
            <a:endParaRPr sz="6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solidFill>
                  <a:srgbClr val="7F807F"/>
                </a:solidFill>
                <a:latin typeface="LM Sans 10"/>
                <a:cs typeface="Arial"/>
                <a:hlinkClick r:id="rId2" action="ppaction://hlinksldjump"/>
              </a:rPr>
              <a:t>[4]</a:t>
            </a:r>
            <a:r>
              <a:rPr dirty="0" sz="1100" spc="-15">
                <a:solidFill>
                  <a:srgbClr val="7F807F"/>
                </a:solidFill>
                <a:latin typeface="LM Sans 10"/>
                <a:cs typeface="Arial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Martin</a:t>
            </a:r>
            <a:r>
              <a:rPr dirty="0" sz="1100" spc="-15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Docekal,</a:t>
            </a:r>
            <a:r>
              <a:rPr dirty="0" sz="1100" spc="-15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Martin</a:t>
            </a:r>
            <a:r>
              <a:rPr dirty="0" sz="11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Fajcik,</a:t>
            </a:r>
            <a:r>
              <a:rPr dirty="0" sz="1100" spc="-15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and</a:t>
            </a:r>
            <a:r>
              <a:rPr dirty="0" sz="1100" spc="-15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2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Pavel</a:t>
            </a:r>
            <a:r>
              <a:rPr dirty="0" sz="1100" spc="-15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Smrz. </a:t>
            </a:r>
            <a:r>
              <a:rPr dirty="0" sz="1100">
                <a:latin typeface="LM Sans 10"/>
                <a:cs typeface="Arial"/>
                <a:hlinkClick r:id="rId2" action="ppaction://hlinksldjump"/>
              </a:rPr>
              <a:t>“Oarelatedwork:</a:t>
            </a:r>
            <a:r>
              <a:rPr dirty="0" sz="11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latin typeface="LM Sans 10"/>
                <a:cs typeface="Arial"/>
                <a:hlinkClick r:id="rId2" action="ppaction://hlinksldjump"/>
              </a:rPr>
              <a:t>A</a:t>
            </a:r>
            <a:r>
              <a:rPr dirty="0" sz="11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20">
                <a:latin typeface="LM Sans 10"/>
                <a:cs typeface="Arial"/>
                <a:hlinkClick r:id="rId2" action="ppaction://hlinksldjump"/>
              </a:rPr>
              <a:t>large-</a:t>
            </a:r>
            <a:r>
              <a:rPr dirty="0" sz="1100" spc="-25">
                <a:latin typeface="LM Sans 10"/>
                <a:cs typeface="Arial"/>
                <a:hlinkClick r:id="rId2" action="ppaction://hlinksldjump"/>
              </a:rPr>
              <a:t>scale</a:t>
            </a:r>
            <a:r>
              <a:rPr dirty="0" sz="1100" spc="-10">
                <a:latin typeface="LM Sans 10"/>
                <a:cs typeface="Arial"/>
                <a:hlinkClick r:id="rId2" action="ppaction://hlinksldjump"/>
              </a:rPr>
              <a:t> dataset</a:t>
            </a:r>
            <a:r>
              <a:rPr dirty="0" sz="11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11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10">
                <a:latin typeface="LM Sans 10"/>
                <a:cs typeface="Arial"/>
                <a:hlinkClick r:id="rId2" action="ppaction://hlinksldjump"/>
              </a:rPr>
              <a:t>related</a:t>
            </a:r>
            <a:r>
              <a:rPr dirty="0" sz="11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10">
                <a:latin typeface="LM Sans 10"/>
                <a:cs typeface="Arial"/>
                <a:hlinkClick r:id="rId2" action="ppaction://hlinksldjump"/>
              </a:rPr>
              <a:t>work </a:t>
            </a:r>
            <a:r>
              <a:rPr dirty="0" sz="1100" spc="-20">
                <a:latin typeface="LM Sans 10"/>
                <a:cs typeface="Arial"/>
                <a:hlinkClick r:id="rId2" action="ppaction://hlinksldjump"/>
              </a:rPr>
              <a:t>sections</a:t>
            </a:r>
            <a:r>
              <a:rPr dirty="0" sz="11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latin typeface="LM Sans 10"/>
                <a:cs typeface="Arial"/>
                <a:hlinkClick r:id="rId2" action="ppaction://hlinksldjump"/>
              </a:rPr>
              <a:t>with</a:t>
            </a:r>
            <a:r>
              <a:rPr dirty="0" sz="11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latin typeface="LM Sans 10"/>
                <a:cs typeface="Arial"/>
                <a:hlinkClick r:id="rId2" action="ppaction://hlinksldjump"/>
              </a:rPr>
              <a:t>full-texts</a:t>
            </a:r>
            <a:r>
              <a:rPr dirty="0" sz="11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latin typeface="LM Sans 10"/>
                <a:cs typeface="Arial"/>
                <a:hlinkClick r:id="rId2" action="ppaction://hlinksldjump"/>
              </a:rPr>
              <a:t>from</a:t>
            </a:r>
            <a:r>
              <a:rPr dirty="0" sz="11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20">
                <a:latin typeface="LM Sans 10"/>
                <a:cs typeface="Arial"/>
                <a:hlinkClick r:id="rId2" action="ppaction://hlinksldjump"/>
              </a:rPr>
              <a:t>open</a:t>
            </a:r>
            <a:r>
              <a:rPr dirty="0" sz="11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40">
                <a:latin typeface="LM Sans 10"/>
                <a:cs typeface="Arial"/>
                <a:hlinkClick r:id="rId2" action="ppaction://hlinksldjump"/>
              </a:rPr>
              <a:t>access</a:t>
            </a:r>
            <a:r>
              <a:rPr dirty="0" sz="11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20">
                <a:latin typeface="LM Sans 10"/>
                <a:cs typeface="Arial"/>
                <a:hlinkClick r:id="rId2" action="ppaction://hlinksldjump"/>
              </a:rPr>
              <a:t>sources”.</a:t>
            </a:r>
            <a:r>
              <a:rPr dirty="0" sz="11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In:</a:t>
            </a:r>
            <a:r>
              <a:rPr dirty="0" sz="1100" spc="-15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arXiv</a:t>
            </a:r>
            <a:r>
              <a:rPr dirty="0" sz="11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preprint</a:t>
            </a:r>
            <a:r>
              <a:rPr dirty="0" sz="11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arXiv:2405.01930 </a:t>
            </a:r>
            <a:r>
              <a:rPr dirty="0" sz="11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(2024)</a:t>
            </a:r>
            <a:endParaRPr sz="5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100">
                <a:solidFill>
                  <a:srgbClr val="7F807F"/>
                </a:solidFill>
                <a:latin typeface="LM Sans 10"/>
                <a:cs typeface="Arial"/>
                <a:hlinkClick r:id="rId2" action="ppaction://hlinksldjump"/>
              </a:rPr>
              <a:t>[2]</a:t>
            </a:r>
            <a:r>
              <a:rPr dirty="0" sz="1100" spc="-15">
                <a:solidFill>
                  <a:srgbClr val="7F807F"/>
                </a:solidFill>
                <a:latin typeface="LM Sans 10"/>
                <a:cs typeface="Arial"/>
              </a:rPr>
              <a:t> </a:t>
            </a:r>
            <a:r>
              <a:rPr dirty="0" sz="1100" spc="-2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Wen </a:t>
            </a:r>
            <a:r>
              <a:rPr dirty="0" sz="11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Xiao</a:t>
            </a:r>
            <a:r>
              <a:rPr dirty="0" sz="1100" spc="-15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et</a:t>
            </a:r>
            <a:r>
              <a:rPr dirty="0" sz="1100" spc="-15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al.</a:t>
            </a:r>
            <a:r>
              <a:rPr dirty="0" sz="1100" spc="-15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latin typeface="LM Sans 10"/>
                <a:cs typeface="Arial"/>
                <a:hlinkClick r:id="rId2" action="ppaction://hlinksldjump"/>
              </a:rPr>
              <a:t>“PRIMERA:</a:t>
            </a:r>
            <a:r>
              <a:rPr dirty="0" sz="11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10">
                <a:latin typeface="LM Sans 10"/>
                <a:cs typeface="Arial"/>
                <a:hlinkClick r:id="rId2" action="ppaction://hlinksldjump"/>
              </a:rPr>
              <a:t>Pyramid-based</a:t>
            </a:r>
            <a:r>
              <a:rPr dirty="0" sz="11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20">
                <a:latin typeface="LM Sans 10"/>
                <a:cs typeface="Arial"/>
                <a:hlinkClick r:id="rId2" action="ppaction://hlinksldjump"/>
              </a:rPr>
              <a:t>Masked </a:t>
            </a:r>
            <a:r>
              <a:rPr dirty="0" sz="1100" spc="-25">
                <a:latin typeface="LM Sans 10"/>
                <a:cs typeface="Arial"/>
                <a:hlinkClick r:id="rId2" action="ppaction://hlinksldjump"/>
              </a:rPr>
              <a:t>Sentence</a:t>
            </a:r>
            <a:r>
              <a:rPr dirty="0" sz="11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latin typeface="LM Sans 10"/>
                <a:cs typeface="Arial"/>
                <a:hlinkClick r:id="rId2" action="ppaction://hlinksldjump"/>
              </a:rPr>
              <a:t>Pre-training</a:t>
            </a:r>
            <a:r>
              <a:rPr dirty="0" sz="11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latin typeface="LM Sans 10"/>
                <a:cs typeface="Arial"/>
                <a:hlinkClick r:id="rId2" action="ppaction://hlinksldjump"/>
              </a:rPr>
              <a:t>for</a:t>
            </a:r>
            <a:r>
              <a:rPr dirty="0" sz="11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latin typeface="LM Sans 10"/>
                <a:cs typeface="Arial"/>
                <a:hlinkClick r:id="rId2" action="ppaction://hlinksldjump"/>
              </a:rPr>
              <a:t>Multi-document</a:t>
            </a:r>
            <a:r>
              <a:rPr dirty="0" sz="11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10">
                <a:latin typeface="LM Sans 10"/>
                <a:cs typeface="Arial"/>
                <a:hlinkClick r:id="rId2" action="ppaction://hlinksldjump"/>
              </a:rPr>
              <a:t>Summarization”.</a:t>
            </a:r>
            <a:r>
              <a:rPr dirty="0" sz="11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In:</a:t>
            </a:r>
            <a:r>
              <a:rPr dirty="0" sz="1100" spc="-15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2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Proceedings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11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the</a:t>
            </a:r>
            <a:r>
              <a:rPr dirty="0" sz="11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60th</a:t>
            </a:r>
            <a:r>
              <a:rPr dirty="0" sz="11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Annual</a:t>
            </a:r>
            <a:r>
              <a:rPr dirty="0" sz="11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Meeting</a:t>
            </a:r>
            <a:r>
              <a:rPr dirty="0" sz="11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11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the</a:t>
            </a:r>
            <a:r>
              <a:rPr dirty="0" sz="11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Association</a:t>
            </a:r>
            <a:r>
              <a:rPr dirty="0" sz="11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for</a:t>
            </a:r>
            <a:r>
              <a:rPr dirty="0" sz="11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Computational</a:t>
            </a:r>
            <a:r>
              <a:rPr dirty="0" sz="11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2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Lin-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guistics</a:t>
            </a:r>
            <a:r>
              <a:rPr dirty="0" sz="1100" spc="-2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(Volume</a:t>
            </a:r>
            <a:r>
              <a:rPr dirty="0" sz="1100" spc="-2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1:</a:t>
            </a:r>
            <a:r>
              <a:rPr dirty="0" sz="1100" spc="-2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Long</a:t>
            </a:r>
            <a:r>
              <a:rPr dirty="0" sz="1100" spc="-2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Papers)</a:t>
            </a:r>
            <a:r>
              <a:rPr dirty="0" sz="11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.</a:t>
            </a:r>
            <a:r>
              <a:rPr dirty="0" sz="1100" spc="-2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2022,</a:t>
            </a:r>
            <a:r>
              <a:rPr dirty="0" sz="1100" spc="-25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pp.</a:t>
            </a:r>
            <a:r>
              <a:rPr dirty="0" sz="1100" spc="-25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2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5245–5263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642255" y="432735"/>
            <a:ext cx="336550" cy="215265"/>
            <a:chOff x="1642255" y="432735"/>
            <a:chExt cx="336550" cy="215265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2255" y="465469"/>
              <a:ext cx="183465" cy="18222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63208" y="432735"/>
              <a:ext cx="115383" cy="186131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62174" y="383447"/>
            <a:ext cx="115264" cy="243364"/>
          </a:xfrm>
          <a:prstGeom prst="rect">
            <a:avLst/>
          </a:prstGeom>
        </p:spPr>
      </p:pic>
      <p:grpSp>
        <p:nvGrpSpPr>
          <p:cNvPr id="35" name="object 35"/>
          <p:cNvGrpSpPr/>
          <p:nvPr/>
        </p:nvGrpSpPr>
        <p:grpSpPr>
          <a:xfrm>
            <a:off x="2177914" y="1301266"/>
            <a:ext cx="462915" cy="220345"/>
            <a:chOff x="2177914" y="1301266"/>
            <a:chExt cx="462915" cy="220345"/>
          </a:xfrm>
        </p:grpSpPr>
        <p:sp>
          <p:nvSpPr>
            <p:cNvPr id="36" name="object 36"/>
            <p:cNvSpPr/>
            <p:nvPr/>
          </p:nvSpPr>
          <p:spPr>
            <a:xfrm>
              <a:off x="2184264" y="1307616"/>
              <a:ext cx="450215" cy="14604"/>
            </a:xfrm>
            <a:custGeom>
              <a:avLst/>
              <a:gdLst/>
              <a:ahLst/>
              <a:cxnLst/>
              <a:rect l="l" t="t" r="r" b="b"/>
              <a:pathLst>
                <a:path w="450214" h="14605">
                  <a:moveTo>
                    <a:pt x="0" y="14006"/>
                  </a:moveTo>
                  <a:lnTo>
                    <a:pt x="44193" y="14006"/>
                  </a:lnTo>
                  <a:lnTo>
                    <a:pt x="93973" y="13548"/>
                  </a:lnTo>
                  <a:lnTo>
                    <a:pt x="139746" y="12427"/>
                  </a:lnTo>
                  <a:lnTo>
                    <a:pt x="173991" y="11765"/>
                  </a:lnTo>
                  <a:lnTo>
                    <a:pt x="200765" y="11765"/>
                  </a:lnTo>
                  <a:lnTo>
                    <a:pt x="224790" y="10899"/>
                  </a:lnTo>
                  <a:lnTo>
                    <a:pt x="243397" y="10034"/>
                  </a:lnTo>
                  <a:lnTo>
                    <a:pt x="260393" y="10017"/>
                  </a:lnTo>
                  <a:lnTo>
                    <a:pt x="278016" y="9202"/>
                  </a:lnTo>
                  <a:lnTo>
                    <a:pt x="293805" y="8234"/>
                  </a:lnTo>
                  <a:lnTo>
                    <a:pt x="309663" y="7419"/>
                  </a:lnTo>
                  <a:lnTo>
                    <a:pt x="326030" y="6774"/>
                  </a:lnTo>
                  <a:lnTo>
                    <a:pt x="339731" y="6774"/>
                  </a:lnTo>
                  <a:lnTo>
                    <a:pt x="350682" y="6366"/>
                  </a:lnTo>
                  <a:lnTo>
                    <a:pt x="360156" y="5670"/>
                  </a:lnTo>
                  <a:lnTo>
                    <a:pt x="368747" y="4702"/>
                  </a:lnTo>
                  <a:lnTo>
                    <a:pt x="377338" y="3327"/>
                  </a:lnTo>
                  <a:lnTo>
                    <a:pt x="385946" y="1952"/>
                  </a:lnTo>
                  <a:lnTo>
                    <a:pt x="394401" y="1256"/>
                  </a:lnTo>
                  <a:lnTo>
                    <a:pt x="401192" y="628"/>
                  </a:lnTo>
                  <a:lnTo>
                    <a:pt x="406404" y="0"/>
                  </a:lnTo>
                  <a:lnTo>
                    <a:pt x="411583" y="0"/>
                  </a:lnTo>
                  <a:lnTo>
                    <a:pt x="444469" y="0"/>
                  </a:lnTo>
                  <a:lnTo>
                    <a:pt x="449698" y="0"/>
                  </a:lnTo>
                </a:path>
              </a:pathLst>
            </a:custGeom>
            <a:ln w="12700">
              <a:solidFill>
                <a:srgbClr val="22B2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73043" y="1363661"/>
              <a:ext cx="207931" cy="157828"/>
            </a:xfrm>
            <a:prstGeom prst="rect">
              <a:avLst/>
            </a:prstGeom>
          </p:spPr>
        </p:pic>
      </p:grpSp>
      <p:sp>
        <p:nvSpPr>
          <p:cNvPr id="38" name="object 38"/>
          <p:cNvSpPr/>
          <p:nvPr/>
        </p:nvSpPr>
        <p:spPr>
          <a:xfrm>
            <a:off x="2722792" y="1347090"/>
            <a:ext cx="452120" cy="170180"/>
          </a:xfrm>
          <a:custGeom>
            <a:avLst/>
            <a:gdLst/>
            <a:ahLst/>
            <a:cxnLst/>
            <a:rect l="l" t="t" r="r" b="b"/>
            <a:pathLst>
              <a:path w="452119" h="170180">
                <a:moveTo>
                  <a:pt x="37963" y="23107"/>
                </a:moveTo>
                <a:lnTo>
                  <a:pt x="49915" y="23107"/>
                </a:lnTo>
                <a:lnTo>
                  <a:pt x="60917" y="24601"/>
                </a:lnTo>
                <a:lnTo>
                  <a:pt x="69253" y="28913"/>
                </a:lnTo>
                <a:lnTo>
                  <a:pt x="75280" y="35789"/>
                </a:lnTo>
                <a:lnTo>
                  <a:pt x="79797" y="44822"/>
                </a:lnTo>
                <a:lnTo>
                  <a:pt x="81511" y="57097"/>
                </a:lnTo>
                <a:lnTo>
                  <a:pt x="80747" y="71749"/>
                </a:lnTo>
                <a:lnTo>
                  <a:pt x="53888" y="109916"/>
                </a:lnTo>
                <a:lnTo>
                  <a:pt x="19117" y="127114"/>
                </a:lnTo>
                <a:lnTo>
                  <a:pt x="11901" y="128099"/>
                </a:lnTo>
                <a:lnTo>
                  <a:pt x="7045" y="128099"/>
                </a:lnTo>
                <a:lnTo>
                  <a:pt x="3786" y="126911"/>
                </a:lnTo>
                <a:lnTo>
                  <a:pt x="1799" y="123125"/>
                </a:lnTo>
                <a:lnTo>
                  <a:pt x="577" y="118676"/>
                </a:lnTo>
                <a:lnTo>
                  <a:pt x="0" y="114975"/>
                </a:lnTo>
                <a:lnTo>
                  <a:pt x="0" y="111936"/>
                </a:lnTo>
                <a:lnTo>
                  <a:pt x="0" y="109576"/>
                </a:lnTo>
                <a:lnTo>
                  <a:pt x="0" y="107793"/>
                </a:lnTo>
                <a:lnTo>
                  <a:pt x="0" y="106843"/>
                </a:lnTo>
                <a:lnTo>
                  <a:pt x="492" y="106062"/>
                </a:lnTo>
                <a:lnTo>
                  <a:pt x="2139" y="105620"/>
                </a:lnTo>
                <a:lnTo>
                  <a:pt x="5195" y="105603"/>
                </a:lnTo>
                <a:lnTo>
                  <a:pt x="9066" y="105603"/>
                </a:lnTo>
                <a:lnTo>
                  <a:pt x="13616" y="105603"/>
                </a:lnTo>
                <a:lnTo>
                  <a:pt x="18811" y="105858"/>
                </a:lnTo>
                <a:lnTo>
                  <a:pt x="23667" y="107386"/>
                </a:lnTo>
                <a:lnTo>
                  <a:pt x="27776" y="110510"/>
                </a:lnTo>
                <a:lnTo>
                  <a:pt x="31477" y="113583"/>
                </a:lnTo>
                <a:lnTo>
                  <a:pt x="34499" y="115994"/>
                </a:lnTo>
                <a:lnTo>
                  <a:pt x="36859" y="118354"/>
                </a:lnTo>
                <a:lnTo>
                  <a:pt x="39202" y="120697"/>
                </a:lnTo>
                <a:lnTo>
                  <a:pt x="41613" y="123040"/>
                </a:lnTo>
                <a:lnTo>
                  <a:pt x="44771" y="125586"/>
                </a:lnTo>
                <a:lnTo>
                  <a:pt x="48421" y="128863"/>
                </a:lnTo>
                <a:lnTo>
                  <a:pt x="52326" y="132513"/>
                </a:lnTo>
                <a:lnTo>
                  <a:pt x="56435" y="135502"/>
                </a:lnTo>
                <a:lnTo>
                  <a:pt x="59864" y="137946"/>
                </a:lnTo>
                <a:lnTo>
                  <a:pt x="62530" y="140306"/>
                </a:lnTo>
                <a:lnTo>
                  <a:pt x="64873" y="142089"/>
                </a:lnTo>
                <a:lnTo>
                  <a:pt x="97997" y="122191"/>
                </a:lnTo>
                <a:lnTo>
                  <a:pt x="116996" y="98337"/>
                </a:lnTo>
                <a:lnTo>
                  <a:pt x="121053" y="90068"/>
                </a:lnTo>
                <a:lnTo>
                  <a:pt x="126690" y="80561"/>
                </a:lnTo>
                <a:lnTo>
                  <a:pt x="131817" y="71070"/>
                </a:lnTo>
                <a:lnTo>
                  <a:pt x="135264" y="64211"/>
                </a:lnTo>
                <a:lnTo>
                  <a:pt x="137777" y="59932"/>
                </a:lnTo>
                <a:lnTo>
                  <a:pt x="140001" y="57691"/>
                </a:lnTo>
                <a:lnTo>
                  <a:pt x="141003" y="56112"/>
                </a:lnTo>
                <a:lnTo>
                  <a:pt x="141003" y="54618"/>
                </a:lnTo>
                <a:lnTo>
                  <a:pt x="141003" y="53022"/>
                </a:lnTo>
                <a:lnTo>
                  <a:pt x="141003" y="49983"/>
                </a:lnTo>
                <a:lnTo>
                  <a:pt x="140884" y="46180"/>
                </a:lnTo>
                <a:lnTo>
                  <a:pt x="124585" y="32292"/>
                </a:lnTo>
                <a:lnTo>
                  <a:pt x="122446" y="32292"/>
                </a:lnTo>
                <a:lnTo>
                  <a:pt x="121325" y="32699"/>
                </a:lnTo>
                <a:lnTo>
                  <a:pt x="120985" y="34516"/>
                </a:lnTo>
                <a:lnTo>
                  <a:pt x="120816" y="38523"/>
                </a:lnTo>
                <a:lnTo>
                  <a:pt x="120120" y="44737"/>
                </a:lnTo>
                <a:lnTo>
                  <a:pt x="119423" y="52648"/>
                </a:lnTo>
                <a:lnTo>
                  <a:pt x="119423" y="60424"/>
                </a:lnTo>
                <a:lnTo>
                  <a:pt x="119423" y="68217"/>
                </a:lnTo>
                <a:lnTo>
                  <a:pt x="119423" y="76265"/>
                </a:lnTo>
                <a:lnTo>
                  <a:pt x="119423" y="82615"/>
                </a:lnTo>
                <a:lnTo>
                  <a:pt x="119899" y="87250"/>
                </a:lnTo>
                <a:lnTo>
                  <a:pt x="154585" y="106520"/>
                </a:lnTo>
                <a:lnTo>
                  <a:pt x="157913" y="106520"/>
                </a:lnTo>
                <a:lnTo>
                  <a:pt x="160493" y="106520"/>
                </a:lnTo>
                <a:lnTo>
                  <a:pt x="162819" y="106520"/>
                </a:lnTo>
                <a:lnTo>
                  <a:pt x="165162" y="106520"/>
                </a:lnTo>
                <a:lnTo>
                  <a:pt x="167539" y="106435"/>
                </a:lnTo>
                <a:lnTo>
                  <a:pt x="169950" y="104500"/>
                </a:lnTo>
                <a:lnTo>
                  <a:pt x="172531" y="99219"/>
                </a:lnTo>
                <a:lnTo>
                  <a:pt x="176996" y="88048"/>
                </a:lnTo>
                <a:lnTo>
                  <a:pt x="183736" y="73515"/>
                </a:lnTo>
                <a:lnTo>
                  <a:pt x="190137" y="59406"/>
                </a:lnTo>
                <a:lnTo>
                  <a:pt x="194365" y="47453"/>
                </a:lnTo>
                <a:lnTo>
                  <a:pt x="196623" y="40577"/>
                </a:lnTo>
                <a:lnTo>
                  <a:pt x="197421" y="37165"/>
                </a:lnTo>
                <a:lnTo>
                  <a:pt x="197421" y="35365"/>
                </a:lnTo>
                <a:lnTo>
                  <a:pt x="197421" y="34092"/>
                </a:lnTo>
                <a:lnTo>
                  <a:pt x="197421" y="32818"/>
                </a:lnTo>
                <a:lnTo>
                  <a:pt x="197217" y="30883"/>
                </a:lnTo>
                <a:lnTo>
                  <a:pt x="181886" y="20832"/>
                </a:lnTo>
                <a:lnTo>
                  <a:pt x="178066" y="20832"/>
                </a:lnTo>
                <a:lnTo>
                  <a:pt x="174874" y="20832"/>
                </a:lnTo>
                <a:lnTo>
                  <a:pt x="172412" y="20917"/>
                </a:lnTo>
                <a:lnTo>
                  <a:pt x="168915" y="24703"/>
                </a:lnTo>
                <a:lnTo>
                  <a:pt x="162904" y="33175"/>
                </a:lnTo>
                <a:lnTo>
                  <a:pt x="156266" y="42903"/>
                </a:lnTo>
                <a:lnTo>
                  <a:pt x="150646" y="50934"/>
                </a:lnTo>
                <a:lnTo>
                  <a:pt x="146368" y="56248"/>
                </a:lnTo>
                <a:lnTo>
                  <a:pt x="144144" y="59644"/>
                </a:lnTo>
                <a:lnTo>
                  <a:pt x="142887" y="62003"/>
                </a:lnTo>
                <a:lnTo>
                  <a:pt x="142633" y="63260"/>
                </a:lnTo>
                <a:lnTo>
                  <a:pt x="143278" y="63345"/>
                </a:lnTo>
                <a:lnTo>
                  <a:pt x="143685" y="62988"/>
                </a:lnTo>
                <a:lnTo>
                  <a:pt x="144585" y="62394"/>
                </a:lnTo>
                <a:lnTo>
                  <a:pt x="147318" y="61681"/>
                </a:lnTo>
                <a:lnTo>
                  <a:pt x="154483" y="60645"/>
                </a:lnTo>
                <a:lnTo>
                  <a:pt x="169967" y="58438"/>
                </a:lnTo>
                <a:lnTo>
                  <a:pt x="190324" y="54890"/>
                </a:lnTo>
                <a:lnTo>
                  <a:pt x="212277" y="52003"/>
                </a:lnTo>
                <a:lnTo>
                  <a:pt x="232515" y="50221"/>
                </a:lnTo>
                <a:lnTo>
                  <a:pt x="246674" y="49423"/>
                </a:lnTo>
                <a:lnTo>
                  <a:pt x="255095" y="49423"/>
                </a:lnTo>
                <a:lnTo>
                  <a:pt x="259323" y="49423"/>
                </a:lnTo>
                <a:lnTo>
                  <a:pt x="260749" y="49423"/>
                </a:lnTo>
                <a:lnTo>
                  <a:pt x="258101" y="48795"/>
                </a:lnTo>
                <a:lnTo>
                  <a:pt x="251394" y="46808"/>
                </a:lnTo>
                <a:lnTo>
                  <a:pt x="228389" y="36672"/>
                </a:lnTo>
                <a:lnTo>
                  <a:pt x="228389" y="35450"/>
                </a:lnTo>
                <a:lnTo>
                  <a:pt x="228355" y="33277"/>
                </a:lnTo>
                <a:lnTo>
                  <a:pt x="270036" y="8760"/>
                </a:lnTo>
                <a:lnTo>
                  <a:pt x="284773" y="8760"/>
                </a:lnTo>
                <a:lnTo>
                  <a:pt x="297354" y="8760"/>
                </a:lnTo>
                <a:lnTo>
                  <a:pt x="306828" y="10526"/>
                </a:lnTo>
                <a:lnTo>
                  <a:pt x="312872" y="17198"/>
                </a:lnTo>
                <a:lnTo>
                  <a:pt x="316301" y="29134"/>
                </a:lnTo>
                <a:lnTo>
                  <a:pt x="317286" y="44737"/>
                </a:lnTo>
                <a:lnTo>
                  <a:pt x="315622" y="65246"/>
                </a:lnTo>
                <a:lnTo>
                  <a:pt x="285520" y="117131"/>
                </a:lnTo>
                <a:lnTo>
                  <a:pt x="242005" y="155519"/>
                </a:lnTo>
                <a:lnTo>
                  <a:pt x="212548" y="169729"/>
                </a:lnTo>
                <a:lnTo>
                  <a:pt x="210324" y="168728"/>
                </a:lnTo>
                <a:lnTo>
                  <a:pt x="210120" y="164500"/>
                </a:lnTo>
                <a:lnTo>
                  <a:pt x="209968" y="158914"/>
                </a:lnTo>
                <a:lnTo>
                  <a:pt x="209985" y="153651"/>
                </a:lnTo>
                <a:lnTo>
                  <a:pt x="245452" y="129101"/>
                </a:lnTo>
                <a:lnTo>
                  <a:pt x="273398" y="123651"/>
                </a:lnTo>
                <a:lnTo>
                  <a:pt x="279714" y="123651"/>
                </a:lnTo>
                <a:lnTo>
                  <a:pt x="285911" y="125485"/>
                </a:lnTo>
                <a:lnTo>
                  <a:pt x="291344" y="130714"/>
                </a:lnTo>
                <a:lnTo>
                  <a:pt x="295316" y="136045"/>
                </a:lnTo>
                <a:lnTo>
                  <a:pt x="299018" y="139746"/>
                </a:lnTo>
                <a:lnTo>
                  <a:pt x="301955" y="142514"/>
                </a:lnTo>
                <a:lnTo>
                  <a:pt x="304298" y="143498"/>
                </a:lnTo>
                <a:lnTo>
                  <a:pt x="306641" y="143498"/>
                </a:lnTo>
                <a:lnTo>
                  <a:pt x="308984" y="143498"/>
                </a:lnTo>
                <a:lnTo>
                  <a:pt x="336098" y="92191"/>
                </a:lnTo>
                <a:lnTo>
                  <a:pt x="346896" y="51205"/>
                </a:lnTo>
                <a:lnTo>
                  <a:pt x="351107" y="23107"/>
                </a:lnTo>
                <a:lnTo>
                  <a:pt x="351107" y="22156"/>
                </a:lnTo>
                <a:lnTo>
                  <a:pt x="351107" y="26655"/>
                </a:lnTo>
                <a:lnTo>
                  <a:pt x="348339" y="63226"/>
                </a:lnTo>
                <a:lnTo>
                  <a:pt x="348339" y="65535"/>
                </a:lnTo>
                <a:lnTo>
                  <a:pt x="348662" y="66316"/>
                </a:lnTo>
                <a:lnTo>
                  <a:pt x="349613" y="66316"/>
                </a:lnTo>
                <a:lnTo>
                  <a:pt x="352838" y="66316"/>
                </a:lnTo>
                <a:lnTo>
                  <a:pt x="358832" y="66316"/>
                </a:lnTo>
                <a:lnTo>
                  <a:pt x="366709" y="66316"/>
                </a:lnTo>
                <a:lnTo>
                  <a:pt x="375402" y="67165"/>
                </a:lnTo>
                <a:lnTo>
                  <a:pt x="407100" y="91359"/>
                </a:lnTo>
                <a:lnTo>
                  <a:pt x="407915" y="95892"/>
                </a:lnTo>
                <a:lnTo>
                  <a:pt x="407915" y="100951"/>
                </a:lnTo>
                <a:lnTo>
                  <a:pt x="373178" y="122513"/>
                </a:lnTo>
                <a:lnTo>
                  <a:pt x="345860" y="125094"/>
                </a:lnTo>
                <a:lnTo>
                  <a:pt x="337286" y="125094"/>
                </a:lnTo>
                <a:lnTo>
                  <a:pt x="322566" y="98710"/>
                </a:lnTo>
                <a:lnTo>
                  <a:pt x="322566" y="89202"/>
                </a:lnTo>
                <a:lnTo>
                  <a:pt x="322566" y="78761"/>
                </a:lnTo>
                <a:lnTo>
                  <a:pt x="322566" y="68812"/>
                </a:lnTo>
                <a:lnTo>
                  <a:pt x="322566" y="57351"/>
                </a:lnTo>
                <a:lnTo>
                  <a:pt x="324672" y="42190"/>
                </a:lnTo>
                <a:lnTo>
                  <a:pt x="329103" y="27131"/>
                </a:lnTo>
                <a:lnTo>
                  <a:pt x="333534" y="15993"/>
                </a:lnTo>
                <a:lnTo>
                  <a:pt x="336947" y="8743"/>
                </a:lnTo>
                <a:lnTo>
                  <a:pt x="338322" y="4108"/>
                </a:lnTo>
                <a:lnTo>
                  <a:pt x="347983" y="0"/>
                </a:lnTo>
                <a:lnTo>
                  <a:pt x="359375" y="0"/>
                </a:lnTo>
                <a:lnTo>
                  <a:pt x="375759" y="186"/>
                </a:lnTo>
                <a:lnTo>
                  <a:pt x="394197" y="2071"/>
                </a:lnTo>
                <a:lnTo>
                  <a:pt x="411888" y="5127"/>
                </a:lnTo>
                <a:lnTo>
                  <a:pt x="427236" y="7606"/>
                </a:lnTo>
                <a:lnTo>
                  <a:pt x="438340" y="9083"/>
                </a:lnTo>
                <a:lnTo>
                  <a:pt x="445522" y="10118"/>
                </a:lnTo>
                <a:lnTo>
                  <a:pt x="449596" y="11256"/>
                </a:lnTo>
                <a:lnTo>
                  <a:pt x="451430" y="11816"/>
                </a:lnTo>
                <a:lnTo>
                  <a:pt x="451855" y="12495"/>
                </a:lnTo>
              </a:path>
            </a:pathLst>
          </a:custGeom>
          <a:ln w="12700">
            <a:solidFill>
              <a:srgbClr val="22B2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15836" y="2703570"/>
            <a:ext cx="5461635" cy="19431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75"/>
              </a:spcBef>
            </a:pPr>
            <a:r>
              <a:rPr dirty="0" sz="1100">
                <a:solidFill>
                  <a:srgbClr val="7F807F"/>
                </a:solidFill>
                <a:latin typeface="LM Sans 10"/>
                <a:cs typeface="Arial"/>
                <a:hlinkClick r:id="rId2" action="ppaction://hlinksldjump"/>
              </a:rPr>
              <a:t>[3]</a:t>
            </a:r>
            <a:r>
              <a:rPr dirty="0" sz="1100" spc="-10">
                <a:solidFill>
                  <a:srgbClr val="7F807F"/>
                </a:solidFill>
                <a:latin typeface="LM Sans 10"/>
                <a:cs typeface="Arial"/>
              </a:rPr>
              <a:t> </a:t>
            </a:r>
            <a:r>
              <a:rPr dirty="0" sz="11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Xiaochuan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Liu</a:t>
            </a:r>
            <a:r>
              <a:rPr dirty="0" sz="11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et</a:t>
            </a:r>
            <a:r>
              <a:rPr dirty="0" sz="11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al.</a:t>
            </a:r>
            <a:r>
              <a:rPr dirty="0" sz="11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latin typeface="LM Sans 10"/>
                <a:cs typeface="Arial"/>
                <a:hlinkClick r:id="rId2" action="ppaction://hlinksldjump"/>
              </a:rPr>
              <a:t>“Select,</a:t>
            </a:r>
            <a:r>
              <a:rPr dirty="0" sz="11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25">
                <a:latin typeface="LM Sans 10"/>
                <a:cs typeface="Arial"/>
                <a:hlinkClick r:id="rId2" action="ppaction://hlinksldjump"/>
              </a:rPr>
              <a:t>Read,</a:t>
            </a:r>
            <a:r>
              <a:rPr dirty="0" sz="1100" spc="-10">
                <a:latin typeface="LM Sans 10"/>
                <a:cs typeface="Arial"/>
                <a:hlinkClick r:id="rId2" action="ppaction://hlinksldjump"/>
              </a:rPr>
              <a:t> and </a:t>
            </a:r>
            <a:r>
              <a:rPr dirty="0" sz="1100">
                <a:latin typeface="LM Sans 10"/>
                <a:cs typeface="Arial"/>
                <a:hlinkClick r:id="rId2" action="ppaction://hlinksldjump"/>
              </a:rPr>
              <a:t>Write:</a:t>
            </a:r>
            <a:r>
              <a:rPr dirty="0" sz="11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latin typeface="LM Sans 10"/>
                <a:cs typeface="Arial"/>
                <a:hlinkClick r:id="rId2" action="ppaction://hlinksldjump"/>
              </a:rPr>
              <a:t>A</a:t>
            </a:r>
            <a:r>
              <a:rPr dirty="0" sz="11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latin typeface="LM Sans 10"/>
                <a:cs typeface="Arial"/>
                <a:hlinkClick r:id="rId2" action="ppaction://hlinksldjump"/>
              </a:rPr>
              <a:t>Multi-Agent</a:t>
            </a:r>
            <a:r>
              <a:rPr dirty="0" sz="1100" spc="-10">
                <a:latin typeface="LM Sans 10"/>
                <a:cs typeface="Arial"/>
                <a:hlinkClick r:id="rId2" action="ppaction://hlinksldjump"/>
              </a:rPr>
              <a:t> Framework </a:t>
            </a:r>
            <a:r>
              <a:rPr dirty="0" sz="1100"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11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latin typeface="LM Sans 10"/>
                <a:cs typeface="Arial"/>
                <a:hlinkClick r:id="rId2" action="ppaction://hlinksldjump"/>
              </a:rPr>
              <a:t>Full-</a:t>
            </a:r>
            <a:r>
              <a:rPr dirty="0" sz="1100" spc="-20">
                <a:latin typeface="LM Sans 10"/>
                <a:cs typeface="Arial"/>
                <a:hlinkClick r:id="rId2" action="ppaction://hlinksldjump"/>
              </a:rPr>
              <a:t>Text-based</a:t>
            </a:r>
            <a:r>
              <a:rPr dirty="0" sz="1100" spc="-10">
                <a:latin typeface="LM Sans 10"/>
                <a:cs typeface="Arial"/>
                <a:hlinkClick r:id="rId2" action="ppaction://hlinksldjump"/>
              </a:rPr>
              <a:t> Related </a:t>
            </a:r>
            <a:r>
              <a:rPr dirty="0" sz="1100">
                <a:latin typeface="LM Sans 10"/>
                <a:cs typeface="Arial"/>
                <a:hlinkClick r:id="rId2" action="ppaction://hlinksldjump"/>
              </a:rPr>
              <a:t>Work</a:t>
            </a:r>
            <a:r>
              <a:rPr dirty="0" sz="1100" spc="-10">
                <a:latin typeface="LM Sans 10"/>
                <a:cs typeface="Arial"/>
                <a:hlinkClick r:id="rId2" action="ppaction://hlinksldjump"/>
              </a:rPr>
              <a:t> Generation”.</a:t>
            </a:r>
            <a:r>
              <a:rPr dirty="0" sz="1100" spc="-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In:</a:t>
            </a:r>
            <a:r>
              <a:rPr dirty="0" sz="11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Findings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the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Association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for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Computational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Linguistics </a:t>
            </a:r>
            <a:r>
              <a:rPr dirty="0" sz="11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(2025).</a:t>
            </a:r>
            <a:r>
              <a:rPr dirty="0" sz="11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Accepted</a:t>
            </a:r>
            <a:r>
              <a:rPr dirty="0" sz="1100" spc="5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z="11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for</a:t>
            </a:r>
            <a:r>
              <a:rPr dirty="0" sz="1100" spc="-4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publication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b="1">
                <a:latin typeface="LM Sans 10"/>
              </a:rPr>
              <a:t>Case</a:t>
            </a:r>
            <a:r>
              <a:rPr dirty="0" spc="200" sz="1600" b="1">
                <a:latin typeface="LM Sans 10"/>
              </a:rPr>
              <a:t> </a:t>
            </a:r>
            <a:r>
              <a:rPr dirty="0" spc="-10" sz="1600" b="1">
                <a:latin typeface="LM Sans 10"/>
              </a:rPr>
              <a:t>Study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9997" y="1274724"/>
            <a:ext cx="1909445" cy="14478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1100" spc="-20">
                <a:latin typeface="LM Sans 10"/>
                <a:cs typeface="Arial"/>
              </a:rPr>
              <a:t>Advanced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techniques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have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 spc="-25">
                <a:latin typeface="LM Sans 10"/>
                <a:cs typeface="Arial"/>
              </a:rPr>
              <a:t>emerged</a:t>
            </a:r>
            <a:r>
              <a:rPr dirty="0" sz="1100" spc="3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to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 spc="-20">
                <a:latin typeface="LM Sans 10"/>
                <a:cs typeface="Arial"/>
              </a:rPr>
              <a:t>overcome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these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15921" y="1274724"/>
            <a:ext cx="449580" cy="129539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1100" spc="-10">
                <a:latin typeface="LM Sans 10"/>
                <a:cs typeface="Arial"/>
              </a:rPr>
              <a:t>limitations.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297" y="1397195"/>
            <a:ext cx="16795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>
                <a:latin typeface="LM Sans 10"/>
                <a:cs typeface="Arial"/>
              </a:rPr>
              <a:t>One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notable</a:t>
            </a:r>
            <a:r>
              <a:rPr dirty="0" sz="1100" spc="15">
                <a:latin typeface="LM Sans 10"/>
                <a:cs typeface="Arial"/>
              </a:rPr>
              <a:t> </a:t>
            </a:r>
            <a:r>
              <a:rPr dirty="0" sz="1100" spc="-20">
                <a:latin typeface="LM Sans 10"/>
                <a:cs typeface="Arial"/>
              </a:rPr>
              <a:t>approach</a:t>
            </a:r>
            <a:r>
              <a:rPr dirty="0" sz="1100" spc="1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is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the</a:t>
            </a:r>
            <a:r>
              <a:rPr dirty="0" sz="1100" spc="1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SoftPosit</a:t>
            </a:r>
            <a:r>
              <a:rPr dirty="0" sz="1100" spc="1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algorithm.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9997" y="1514030"/>
            <a:ext cx="1710689" cy="14605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58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5"/>
              </a:spcBef>
            </a:pPr>
            <a:r>
              <a:rPr dirty="0" sz="1100" spc="-10">
                <a:latin typeface="LM Sans 10"/>
                <a:cs typeface="Arial"/>
              </a:rPr>
              <a:t>Despite</a:t>
            </a:r>
            <a:r>
              <a:rPr dirty="0" sz="1100" spc="4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its</a:t>
            </a:r>
            <a:r>
              <a:rPr dirty="0" sz="1100" spc="50">
                <a:latin typeface="LM Sans 10"/>
                <a:cs typeface="Arial"/>
              </a:rPr>
              <a:t> </a:t>
            </a:r>
            <a:r>
              <a:rPr dirty="0" sz="1100" spc="-20">
                <a:latin typeface="LM Sans 10"/>
                <a:cs typeface="Arial"/>
              </a:rPr>
              <a:t>effectiveness,</a:t>
            </a:r>
            <a:r>
              <a:rPr dirty="0" sz="1100" spc="5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the</a:t>
            </a:r>
            <a:r>
              <a:rPr dirty="0" sz="1100" spc="5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SoftPosit</a:t>
            </a:r>
            <a:r>
              <a:rPr dirty="0" sz="1100" spc="4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algorithm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17242" y="1514855"/>
            <a:ext cx="465455" cy="145415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524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0"/>
              </a:spcBef>
            </a:pPr>
            <a:r>
              <a:rPr dirty="0" sz="1100">
                <a:latin typeface="LM Sans 10"/>
                <a:cs typeface="Arial"/>
              </a:rPr>
              <a:t>can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still</a:t>
            </a:r>
            <a:r>
              <a:rPr dirty="0" sz="1100" spc="30">
                <a:latin typeface="LM Sans 10"/>
                <a:cs typeface="Arial"/>
              </a:rPr>
              <a:t> </a:t>
            </a:r>
            <a:r>
              <a:rPr dirty="0" sz="1100" spc="-20">
                <a:latin typeface="LM Sans 10"/>
                <a:cs typeface="Arial"/>
              </a:rPr>
              <a:t>fail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6782" y="1517655"/>
            <a:ext cx="220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>
                <a:latin typeface="LM Sans 10"/>
                <a:cs typeface="Arial"/>
              </a:rPr>
              <a:t>in</a:t>
            </a:r>
            <a:r>
              <a:rPr dirty="0" sz="1100" spc="40">
                <a:latin typeface="LM Sans 10"/>
                <a:cs typeface="Arial"/>
              </a:rPr>
              <a:t> </a:t>
            </a:r>
            <a:r>
              <a:rPr dirty="0" sz="1100" spc="-25">
                <a:latin typeface="LM Sans 10"/>
                <a:cs typeface="Arial"/>
              </a:rPr>
              <a:t>the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7297" y="1678716"/>
            <a:ext cx="11029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30">
                <a:latin typeface="LM Sans 10"/>
                <a:cs typeface="Arial"/>
              </a:rPr>
              <a:t>presence</a:t>
            </a:r>
            <a:r>
              <a:rPr dirty="0" sz="1100" spc="5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of</a:t>
            </a:r>
            <a:r>
              <a:rPr dirty="0" sz="1100" spc="5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clutter</a:t>
            </a:r>
            <a:r>
              <a:rPr dirty="0" sz="1100" spc="5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or</a:t>
            </a:r>
            <a:r>
              <a:rPr dirty="0" sz="1100" spc="5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occlusions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4338" y="1672437"/>
            <a:ext cx="420370" cy="15240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1100" spc="-40">
                <a:latin typeface="LM Sans 10"/>
                <a:cs typeface="Arial Black"/>
              </a:rPr>
              <a:t>[3755653]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91906" y="1678716"/>
            <a:ext cx="482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0">
                <a:latin typeface="LM Sans 10"/>
                <a:cs typeface="Arial"/>
              </a:rPr>
              <a:t>.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297" y="1857113"/>
            <a:ext cx="15017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>
                <a:latin typeface="LM Sans 10"/>
                <a:cs typeface="Arial"/>
              </a:rPr>
              <a:t>To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 spc="-30">
                <a:latin typeface="LM Sans 10"/>
                <a:cs typeface="Arial"/>
              </a:rPr>
              <a:t>address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these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limitations,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a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recent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paper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82965" y="1872919"/>
            <a:ext cx="472440" cy="12573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695"/>
              </a:lnSpc>
            </a:pPr>
            <a:r>
              <a:rPr dirty="0" sz="1100" spc="-25">
                <a:latin typeface="LM Sans 10"/>
                <a:cs typeface="Arial"/>
              </a:rPr>
              <a:t>proposes</a:t>
            </a:r>
            <a:r>
              <a:rPr dirty="0" sz="1100" spc="15">
                <a:latin typeface="LM Sans 10"/>
                <a:cs typeface="Arial"/>
              </a:rPr>
              <a:t> </a:t>
            </a:r>
            <a:r>
              <a:rPr dirty="0" sz="1100" spc="-35">
                <a:latin typeface="LM Sans 10"/>
                <a:cs typeface="Arial"/>
              </a:rPr>
              <a:t>an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9997" y="2011057"/>
            <a:ext cx="705485" cy="129539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LM Sans 10"/>
                <a:cs typeface="Arial"/>
              </a:rPr>
              <a:t>innovative</a:t>
            </a:r>
            <a:r>
              <a:rPr dirty="0" sz="1100" spc="-1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solution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9579" y="2013094"/>
            <a:ext cx="1473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>
                <a:latin typeface="LM Sans 10"/>
                <a:cs typeface="Arial"/>
              </a:rPr>
              <a:t>by</a:t>
            </a:r>
            <a:r>
              <a:rPr dirty="0" sz="1100" spc="4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integrating</a:t>
            </a:r>
            <a:r>
              <a:rPr dirty="0" sz="1100" spc="4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a</a:t>
            </a:r>
            <a:r>
              <a:rPr dirty="0" sz="1100" spc="4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GMM</a:t>
            </a:r>
            <a:r>
              <a:rPr dirty="0" sz="1100" spc="4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to</a:t>
            </a:r>
            <a:r>
              <a:rPr dirty="0" sz="1100" spc="4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refine</a:t>
            </a:r>
            <a:r>
              <a:rPr dirty="0" sz="1100" spc="45">
                <a:latin typeface="LM Sans 10"/>
                <a:cs typeface="Arial"/>
              </a:rPr>
              <a:t> </a:t>
            </a:r>
            <a:r>
              <a:rPr dirty="0" sz="1100" spc="-25">
                <a:latin typeface="LM Sans 10"/>
                <a:cs typeface="Arial"/>
              </a:rPr>
              <a:t>pose</a:t>
            </a:r>
            <a:r>
              <a:rPr dirty="0" sz="1100" spc="4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priors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9997" y="2153081"/>
            <a:ext cx="420370" cy="15240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1100" spc="-40">
                <a:latin typeface="LM Sans 10"/>
                <a:cs typeface="Arial Black"/>
              </a:rPr>
              <a:t>[3755653]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7565" y="2159360"/>
            <a:ext cx="482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0">
                <a:latin typeface="LM Sans 10"/>
                <a:cs typeface="Arial"/>
              </a:rPr>
              <a:t>.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8494" y="2156574"/>
            <a:ext cx="1195070" cy="145415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524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0"/>
              </a:spcBef>
            </a:pPr>
            <a:r>
              <a:rPr dirty="0" sz="1100">
                <a:latin typeface="LM Sans 10"/>
                <a:cs typeface="Arial"/>
              </a:rPr>
              <a:t>This</a:t>
            </a:r>
            <a:r>
              <a:rPr dirty="0" sz="1100" spc="4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method</a:t>
            </a:r>
            <a:r>
              <a:rPr dirty="0" sz="1100" spc="40">
                <a:latin typeface="LM Sans 10"/>
                <a:cs typeface="Arial"/>
              </a:rPr>
              <a:t> </a:t>
            </a:r>
            <a:r>
              <a:rPr dirty="0" sz="1100" spc="-20">
                <a:latin typeface="LM Sans 10"/>
                <a:cs typeface="Arial"/>
              </a:rPr>
              <a:t>progressively</a:t>
            </a:r>
            <a:r>
              <a:rPr dirty="0" sz="1100" spc="4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refines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67496" y="2159360"/>
            <a:ext cx="7543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>
                <a:latin typeface="LM Sans 10"/>
                <a:cs typeface="Arial"/>
              </a:rPr>
              <a:t>the</a:t>
            </a:r>
            <a:r>
              <a:rPr dirty="0" sz="1100" spc="15">
                <a:latin typeface="LM Sans 10"/>
                <a:cs typeface="Arial"/>
              </a:rPr>
              <a:t> </a:t>
            </a:r>
            <a:r>
              <a:rPr dirty="0" sz="1100" spc="-25">
                <a:latin typeface="LM Sans 10"/>
                <a:cs typeface="Arial"/>
              </a:rPr>
              <a:t>pose</a:t>
            </a:r>
            <a:r>
              <a:rPr dirty="0" sz="1100" spc="1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estimates</a:t>
            </a:r>
            <a:r>
              <a:rPr dirty="0" sz="1100" spc="15">
                <a:latin typeface="LM Sans 10"/>
                <a:cs typeface="Arial"/>
              </a:rPr>
              <a:t> </a:t>
            </a:r>
            <a:r>
              <a:rPr dirty="0" sz="1100" spc="-25">
                <a:latin typeface="LM Sans 10"/>
                <a:cs typeface="Arial"/>
              </a:rPr>
              <a:t>by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7297" y="2281623"/>
            <a:ext cx="10744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>
                <a:latin typeface="LM Sans 10"/>
                <a:cs typeface="Arial"/>
              </a:rPr>
              <a:t>hypothesizing</a:t>
            </a:r>
            <a:r>
              <a:rPr dirty="0" sz="1100" spc="45">
                <a:latin typeface="LM Sans 10"/>
                <a:cs typeface="Arial"/>
              </a:rPr>
              <a:t> </a:t>
            </a:r>
            <a:r>
              <a:rPr dirty="0" sz="1100" spc="-25">
                <a:latin typeface="LM Sans 10"/>
                <a:cs typeface="Arial"/>
              </a:rPr>
              <a:t>correspondences.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9997" y="2398471"/>
            <a:ext cx="1778635" cy="14478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LM Sans 10"/>
                <a:cs typeface="Arial"/>
              </a:rPr>
              <a:t>By</a:t>
            </a:r>
            <a:r>
              <a:rPr dirty="0" sz="1100" spc="1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reducing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matches</a:t>
            </a:r>
            <a:r>
              <a:rPr dirty="0" sz="1100" spc="1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and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exploring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the</a:t>
            </a:r>
            <a:r>
              <a:rPr dirty="0" sz="1100" spc="15">
                <a:latin typeface="LM Sans 10"/>
                <a:cs typeface="Arial"/>
              </a:rPr>
              <a:t> </a:t>
            </a:r>
            <a:r>
              <a:rPr dirty="0" sz="1100" spc="-25">
                <a:latin typeface="LM Sans 10"/>
                <a:cs typeface="Arial"/>
              </a:rPr>
              <a:t>pose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space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85187" y="2398471"/>
            <a:ext cx="641350" cy="14478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1100" spc="-10">
                <a:latin typeface="LM Sans 10"/>
                <a:cs typeface="Arial"/>
              </a:rPr>
              <a:t>more</a:t>
            </a:r>
            <a:r>
              <a:rPr dirty="0" sz="110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thoroughly,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7297" y="2561557"/>
            <a:ext cx="18002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>
                <a:latin typeface="LM Sans 10"/>
                <a:cs typeface="Arial"/>
              </a:rPr>
              <a:t>this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 spc="-20">
                <a:latin typeface="LM Sans 10"/>
                <a:cs typeface="Arial"/>
              </a:rPr>
              <a:t>approach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 spc="-30">
                <a:latin typeface="LM Sans 10"/>
                <a:cs typeface="Arial"/>
              </a:rPr>
              <a:t>enhances</a:t>
            </a:r>
            <a:r>
              <a:rPr dirty="0" sz="1100" spc="3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the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 spc="-20">
                <a:latin typeface="LM Sans 10"/>
                <a:cs typeface="Arial"/>
              </a:rPr>
              <a:t>robustness</a:t>
            </a:r>
            <a:r>
              <a:rPr dirty="0" sz="1100" spc="3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and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efficiency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81466" y="2555278"/>
            <a:ext cx="420370" cy="15240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1100" spc="-40">
                <a:latin typeface="LM Sans 10"/>
                <a:cs typeface="Arial Black"/>
              </a:rPr>
              <a:t>[3755653]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89035" y="2561557"/>
            <a:ext cx="482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0">
                <a:latin typeface="LM Sans 10"/>
                <a:cs typeface="Arial"/>
              </a:rPr>
              <a:t>.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7157" y="537983"/>
            <a:ext cx="4961255" cy="652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dirty="0" sz="1100" spc="-95">
                <a:solidFill>
                  <a:srgbClr val="3333B3"/>
                </a:solidFill>
                <a:latin typeface="LM Sans 10"/>
                <a:cs typeface="Arial Black"/>
              </a:rPr>
              <a:t>Target</a:t>
            </a:r>
            <a:r>
              <a:rPr dirty="0" sz="1100" spc="25">
                <a:solidFill>
                  <a:srgbClr val="3333B3"/>
                </a:solidFill>
                <a:latin typeface="LM Sans 10"/>
                <a:cs typeface="Arial Black"/>
              </a:rPr>
              <a:t> </a:t>
            </a:r>
            <a:r>
              <a:rPr dirty="0" sz="1100" spc="-60">
                <a:solidFill>
                  <a:srgbClr val="3333B3"/>
                </a:solidFill>
                <a:latin typeface="LM Sans 10"/>
                <a:cs typeface="Arial Black"/>
              </a:rPr>
              <a:t>Paper:</a:t>
            </a:r>
            <a:r>
              <a:rPr dirty="0" sz="1100" spc="30">
                <a:solidFill>
                  <a:srgbClr val="3333B3"/>
                </a:solidFill>
                <a:latin typeface="LM Sans 10"/>
                <a:cs typeface="Arial Black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</a:rPr>
              <a:t>Robust</a:t>
            </a:r>
            <a:r>
              <a:rPr dirty="0" sz="1100" spc="2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100" spc="-10">
                <a:solidFill>
                  <a:srgbClr val="3333B3"/>
                </a:solidFill>
                <a:latin typeface="LM Sans 10"/>
                <a:cs typeface="Arial"/>
              </a:rPr>
              <a:t>Non-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</a:rPr>
              <a:t>Rigid</a:t>
            </a:r>
            <a:r>
              <a:rPr dirty="0" sz="1100" spc="2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</a:rPr>
              <a:t>Registration</a:t>
            </a:r>
            <a:r>
              <a:rPr dirty="0" sz="1100" spc="2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</a:rPr>
              <a:t>of</a:t>
            </a:r>
            <a:r>
              <a:rPr dirty="0" sz="1100" spc="2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</a:rPr>
              <a:t>2D</a:t>
            </a:r>
            <a:r>
              <a:rPr dirty="0" sz="1100" spc="2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</a:rPr>
              <a:t>and</a:t>
            </a:r>
            <a:r>
              <a:rPr dirty="0" sz="1100" spc="2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</a:rPr>
              <a:t>3D</a:t>
            </a:r>
            <a:r>
              <a:rPr dirty="0" sz="1100" spc="2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100" spc="-10">
                <a:solidFill>
                  <a:srgbClr val="3333B3"/>
                </a:solidFill>
                <a:latin typeface="LM Sans 10"/>
                <a:cs typeface="Arial"/>
              </a:rPr>
              <a:t>Graphs</a:t>
            </a:r>
            <a:endParaRPr sz="800">
              <a:latin typeface="Arial"/>
              <a:cs typeface="Arial"/>
            </a:endParaRPr>
          </a:p>
          <a:p>
            <a:pPr marL="62865" marR="43180">
              <a:lnSpc>
                <a:spcPts val="700"/>
              </a:lnSpc>
              <a:spcBef>
                <a:spcPts val="830"/>
              </a:spcBef>
            </a:pPr>
            <a:r>
              <a:rPr dirty="0" sz="1100" spc="-55">
                <a:latin typeface="LM Sans 10"/>
                <a:cs typeface="Arial Black"/>
              </a:rPr>
              <a:t>Abstract:</a:t>
            </a:r>
            <a:r>
              <a:rPr dirty="0" sz="1100" spc="50">
                <a:latin typeface="LM Sans 10"/>
                <a:cs typeface="Arial Black"/>
              </a:rPr>
              <a:t> </a:t>
            </a:r>
            <a:r>
              <a:rPr dirty="0" sz="1100">
                <a:latin typeface="LM Sans 10"/>
                <a:cs typeface="Arial"/>
              </a:rPr>
              <a:t>We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present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a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new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 spc="-20">
                <a:latin typeface="LM Sans 10"/>
                <a:cs typeface="Arial"/>
              </a:rPr>
              <a:t>approach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to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matching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graphs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in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R</a:t>
            </a:r>
            <a:r>
              <a:rPr dirty="0" baseline="27777" sz="1100">
                <a:latin typeface="LM Sans 10"/>
                <a:cs typeface="Arial"/>
              </a:rPr>
              <a:t>2</a:t>
            </a:r>
            <a:r>
              <a:rPr dirty="0" baseline="27777" sz="1100" spc="13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or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R</a:t>
            </a:r>
            <a:r>
              <a:rPr dirty="0" baseline="27777" sz="1100" spc="-15">
                <a:latin typeface="LM Sans 10"/>
                <a:cs typeface="Arial"/>
              </a:rPr>
              <a:t>3</a:t>
            </a:r>
            <a:r>
              <a:rPr dirty="0" baseline="27777" sz="1100" spc="-13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.</a:t>
            </a:r>
            <a:r>
              <a:rPr dirty="0" sz="1100" spc="8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Our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method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 spc="-20">
                <a:latin typeface="LM Sans 10"/>
                <a:cs typeface="Arial"/>
              </a:rPr>
              <a:t>handles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partial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matches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and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 spc="-20">
                <a:latin typeface="LM Sans 10"/>
                <a:cs typeface="Arial"/>
              </a:rPr>
              <a:t>non-</a:t>
            </a:r>
            <a:r>
              <a:rPr dirty="0" sz="1100">
                <a:latin typeface="LM Sans 10"/>
                <a:cs typeface="Arial"/>
              </a:rPr>
              <a:t>linear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deformations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using</a:t>
            </a:r>
            <a:r>
              <a:rPr dirty="0" sz="1100" spc="500">
                <a:latin typeface="LM Sans 10"/>
                <a:cs typeface="Arial"/>
              </a:rPr>
              <a:t> </a:t>
            </a:r>
            <a:r>
              <a:rPr dirty="0" sz="1100" spc="-25">
                <a:latin typeface="LM Sans 10"/>
                <a:cs typeface="Arial"/>
              </a:rPr>
              <a:t>Gaussian</a:t>
            </a:r>
            <a:r>
              <a:rPr dirty="0" sz="1100" spc="35">
                <a:latin typeface="LM Sans 10"/>
                <a:cs typeface="Arial"/>
              </a:rPr>
              <a:t> </a:t>
            </a:r>
            <a:r>
              <a:rPr dirty="0" sz="1100" spc="-25">
                <a:latin typeface="LM Sans 10"/>
                <a:cs typeface="Arial"/>
              </a:rPr>
              <a:t>Processes,</a:t>
            </a:r>
            <a:r>
              <a:rPr dirty="0" sz="1100" spc="4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without</a:t>
            </a:r>
            <a:r>
              <a:rPr dirty="0" sz="1100" spc="4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requiring</a:t>
            </a:r>
            <a:r>
              <a:rPr dirty="0" sz="1100" spc="40">
                <a:latin typeface="LM Sans 10"/>
                <a:cs typeface="Arial"/>
              </a:rPr>
              <a:t> </a:t>
            </a:r>
            <a:r>
              <a:rPr dirty="0" sz="1100" spc="-25">
                <a:latin typeface="LM Sans 10"/>
                <a:cs typeface="Arial"/>
              </a:rPr>
              <a:t>appearance</a:t>
            </a:r>
            <a:r>
              <a:rPr dirty="0" sz="1100" spc="4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features</a:t>
            </a:r>
            <a:r>
              <a:rPr dirty="0" sz="1100" spc="4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or</a:t>
            </a:r>
            <a:r>
              <a:rPr dirty="0" sz="1100" spc="4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initial</a:t>
            </a:r>
            <a:r>
              <a:rPr dirty="0" sz="1100" spc="4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alignment...</a:t>
            </a:r>
            <a:r>
              <a:rPr dirty="0" sz="1100" spc="10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[...]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600">
              <a:latin typeface="Arial"/>
              <a:cs typeface="Arial"/>
            </a:endParaRPr>
          </a:p>
          <a:p>
            <a:pPr algn="ctr" marL="29845">
              <a:lnSpc>
                <a:spcPct val="100000"/>
              </a:lnSpc>
              <a:tabLst>
                <a:tab pos="2998470" algn="l"/>
              </a:tabLst>
            </a:pPr>
            <a:r>
              <a:rPr dirty="0" sz="1100" spc="-85">
                <a:solidFill>
                  <a:srgbClr val="005A8C"/>
                </a:solidFill>
                <a:latin typeface="LM Sans 10"/>
                <a:cs typeface="Arial Black"/>
              </a:rPr>
              <a:t>Baseline:</a:t>
            </a:r>
            <a:r>
              <a:rPr dirty="0" sz="1100" spc="125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100" spc="-70">
                <a:solidFill>
                  <a:srgbClr val="005A8C"/>
                </a:solidFill>
                <a:latin typeface="LM Sans 10"/>
                <a:cs typeface="Arial Black"/>
              </a:rPr>
              <a:t>Select-</a:t>
            </a:r>
            <a:r>
              <a:rPr dirty="0" sz="1100" spc="-100">
                <a:solidFill>
                  <a:srgbClr val="005A8C"/>
                </a:solidFill>
                <a:latin typeface="LM Sans 10"/>
                <a:cs typeface="Arial Black"/>
              </a:rPr>
              <a:t>RW</a:t>
            </a:r>
            <a:r>
              <a:rPr dirty="0" sz="1100" spc="35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100" spc="-25">
                <a:solidFill>
                  <a:srgbClr val="005A8C"/>
                </a:solidFill>
                <a:latin typeface="LM Sans 10"/>
                <a:cs typeface="Arial Black"/>
                <a:hlinkClick r:id="rId2" action="ppaction://hlinksldjump"/>
              </a:rPr>
              <a:t>[3]</a:t>
            </a:r>
            <a:r>
              <a:rPr dirty="0" sz="1100">
                <a:solidFill>
                  <a:srgbClr val="005A8C"/>
                </a:solidFill>
                <a:latin typeface="LM Sans 10"/>
                <a:cs typeface="Arial Black"/>
              </a:rPr>
              <a:t>	</a:t>
            </a:r>
            <a:r>
              <a:rPr dirty="0" baseline="3472" sz="1100" spc="-75">
                <a:solidFill>
                  <a:srgbClr val="005A8C"/>
                </a:solidFill>
                <a:latin typeface="LM Sans 10"/>
                <a:cs typeface="Arial Black"/>
              </a:rPr>
              <a:t>Ours:</a:t>
            </a:r>
            <a:r>
              <a:rPr dirty="0" baseline="3472" sz="1100" spc="22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baseline="3472" sz="1100" spc="-30">
                <a:solidFill>
                  <a:srgbClr val="005A8C"/>
                </a:solidFill>
                <a:latin typeface="LM Sans 10"/>
                <a:cs typeface="Arial Black"/>
              </a:rPr>
              <a:t>CREW</a:t>
            </a:r>
            <a:endParaRPr baseline="3472" sz="1200">
              <a:latin typeface="Arial Black"/>
              <a:cs typeface="Arial Black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94418" y="1267028"/>
            <a:ext cx="1783080" cy="15240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LM Sans 10"/>
                <a:cs typeface="Arial"/>
              </a:rPr>
              <a:t>While [28637] and</a:t>
            </a:r>
            <a:r>
              <a:rPr dirty="0" sz="1100" spc="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[27485] focus</a:t>
            </a:r>
            <a:r>
              <a:rPr dirty="0" sz="1100" spc="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on </a:t>
            </a:r>
            <a:r>
              <a:rPr dirty="0" sz="1100" spc="-10">
                <a:latin typeface="LM Sans 10"/>
                <a:cs typeface="Arial"/>
              </a:rPr>
              <a:t>geometric</a:t>
            </a:r>
            <a:r>
              <a:rPr dirty="0" sz="1100" spc="5">
                <a:latin typeface="LM Sans 10"/>
                <a:cs typeface="Arial"/>
              </a:rPr>
              <a:t> </a:t>
            </a:r>
            <a:r>
              <a:rPr dirty="0" sz="1100" spc="-25">
                <a:latin typeface="LM Sans 10"/>
                <a:cs typeface="Arial"/>
              </a:rPr>
              <a:t>and</a:t>
            </a:r>
            <a:endParaRPr sz="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04321" y="1273784"/>
            <a:ext cx="684530" cy="14097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143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LM Sans 10"/>
                <a:cs typeface="Arial"/>
              </a:rPr>
              <a:t>appearance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priors,</a:t>
            </a:r>
            <a:endParaRPr sz="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81718" y="1395582"/>
            <a:ext cx="25311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>
                <a:latin typeface="LM Sans 10"/>
                <a:cs typeface="Arial"/>
              </a:rPr>
              <a:t>other </a:t>
            </a:r>
            <a:r>
              <a:rPr dirty="0" sz="1100" spc="-10">
                <a:latin typeface="LM Sans 10"/>
                <a:cs typeface="Arial"/>
              </a:rPr>
              <a:t>methodologies</a:t>
            </a:r>
            <a:r>
              <a:rPr dirty="0" sz="110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such</a:t>
            </a:r>
            <a:r>
              <a:rPr dirty="0" sz="1100">
                <a:latin typeface="LM Sans 10"/>
                <a:cs typeface="Arial"/>
              </a:rPr>
              <a:t> </a:t>
            </a:r>
            <a:r>
              <a:rPr dirty="0" sz="1100" spc="-20">
                <a:latin typeface="LM Sans 10"/>
                <a:cs typeface="Arial"/>
              </a:rPr>
              <a:t>as</a:t>
            </a:r>
            <a:r>
              <a:rPr dirty="0" sz="110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spectral</a:t>
            </a:r>
            <a:r>
              <a:rPr dirty="0" sz="110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methods</a:t>
            </a:r>
            <a:r>
              <a:rPr dirty="0" sz="1100">
                <a:latin typeface="LM Sans 10"/>
                <a:cs typeface="Arial"/>
              </a:rPr>
              <a:t> and </a:t>
            </a:r>
            <a:r>
              <a:rPr dirty="0" sz="1100" spc="-25">
                <a:latin typeface="LM Sans 10"/>
                <a:cs typeface="Arial"/>
              </a:rPr>
              <a:t>deep</a:t>
            </a:r>
            <a:r>
              <a:rPr dirty="0" sz="110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learning</a:t>
            </a:r>
            <a:r>
              <a:rPr dirty="0" sz="110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have</a:t>
            </a:r>
            <a:r>
              <a:rPr dirty="0" sz="1100">
                <a:latin typeface="LM Sans 10"/>
                <a:cs typeface="Arial"/>
              </a:rPr>
              <a:t> </a:t>
            </a:r>
            <a:r>
              <a:rPr dirty="0" sz="1100" spc="-20">
                <a:latin typeface="LM Sans 10"/>
                <a:cs typeface="Arial"/>
              </a:rPr>
              <a:t>also</a:t>
            </a:r>
            <a:endParaRPr sz="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81718" y="1516029"/>
            <a:ext cx="50927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20">
                <a:latin typeface="LM Sans 10"/>
                <a:cs typeface="Arial"/>
              </a:rPr>
              <a:t>been</a:t>
            </a:r>
            <a:r>
              <a:rPr dirty="0" sz="110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explored.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13836" y="1512417"/>
            <a:ext cx="1889760" cy="14605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58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latin typeface="LM Sans 10"/>
                <a:cs typeface="Arial"/>
              </a:rPr>
              <a:t>Spectral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methods,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which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 spc="-25">
                <a:latin typeface="LM Sans 10"/>
                <a:cs typeface="Arial"/>
              </a:rPr>
              <a:t>leverage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the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 spc="-30">
                <a:latin typeface="LM Sans 10"/>
                <a:cs typeface="Arial"/>
              </a:rPr>
              <a:t>eigenvalues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 spc="-25">
                <a:latin typeface="LM Sans 10"/>
                <a:cs typeface="Arial"/>
              </a:rPr>
              <a:t>and</a:t>
            </a:r>
            <a:endParaRPr sz="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894418" y="1670824"/>
            <a:ext cx="1901825" cy="145415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524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0"/>
              </a:spcBef>
            </a:pPr>
            <a:r>
              <a:rPr dirty="0" sz="1100" spc="-20">
                <a:latin typeface="LM Sans 10"/>
                <a:cs typeface="Arial"/>
              </a:rPr>
              <a:t>eigenvectors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of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graph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Laplacians,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offer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a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powerful</a:t>
            </a:r>
            <a:r>
              <a:rPr dirty="0" sz="1100" spc="20">
                <a:latin typeface="LM Sans 10"/>
                <a:cs typeface="Arial"/>
              </a:rPr>
              <a:t> </a:t>
            </a:r>
            <a:r>
              <a:rPr dirty="0" sz="1100" spc="-20">
                <a:latin typeface="LM Sans 10"/>
                <a:cs typeface="Arial"/>
              </a:rPr>
              <a:t>tool</a:t>
            </a:r>
            <a:endParaRPr sz="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10353" y="1673611"/>
            <a:ext cx="3327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>
                <a:latin typeface="LM Sans 10"/>
                <a:cs typeface="Arial"/>
              </a:rPr>
              <a:t>for</a:t>
            </a:r>
            <a:r>
              <a:rPr dirty="0" sz="1100" spc="4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graph</a:t>
            </a:r>
            <a:endParaRPr sz="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81718" y="1792470"/>
            <a:ext cx="15557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>
                <a:latin typeface="LM Sans 10"/>
                <a:cs typeface="Arial"/>
              </a:rPr>
              <a:t>matching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by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capturing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the</a:t>
            </a:r>
            <a:r>
              <a:rPr dirty="0" sz="1100" spc="3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intrinsic</a:t>
            </a:r>
            <a:r>
              <a:rPr dirty="0" sz="1100" spc="2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structure.</a:t>
            </a:r>
            <a:endParaRPr sz="6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894418" y="1909305"/>
            <a:ext cx="1706245" cy="145415"/>
          </a:xfrm>
          <a:custGeom>
            <a:avLst/>
            <a:gdLst/>
            <a:ahLst/>
            <a:cxnLst/>
            <a:rect l="l" t="t" r="r" b="b"/>
            <a:pathLst>
              <a:path w="1706245" h="145414">
                <a:moveTo>
                  <a:pt x="1706194" y="0"/>
                </a:moveTo>
                <a:lnTo>
                  <a:pt x="0" y="0"/>
                </a:lnTo>
                <a:lnTo>
                  <a:pt x="0" y="144919"/>
                </a:lnTo>
                <a:lnTo>
                  <a:pt x="1706194" y="144919"/>
                </a:lnTo>
                <a:lnTo>
                  <a:pt x="1706194" y="0"/>
                </a:lnTo>
                <a:close/>
              </a:path>
            </a:pathLst>
          </a:custGeom>
          <a:solidFill>
            <a:srgbClr val="BFF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2919679" y="1912079"/>
            <a:ext cx="16560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>
                <a:latin typeface="LM Sans 10"/>
                <a:cs typeface="Arial"/>
              </a:rPr>
              <a:t>These</a:t>
            </a:r>
            <a:r>
              <a:rPr dirty="0" sz="1100" spc="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methods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are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particularly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useful</a:t>
            </a:r>
            <a:r>
              <a:rPr dirty="0" sz="1100" spc="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for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regular</a:t>
            </a:r>
            <a:endParaRPr sz="6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94418" y="2066874"/>
            <a:ext cx="1792605" cy="14478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1100">
                <a:latin typeface="LM Sans 10"/>
                <a:cs typeface="Arial"/>
              </a:rPr>
              <a:t>structures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where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dominant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 spc="-30">
                <a:latin typeface="LM Sans 10"/>
                <a:cs typeface="Arial"/>
              </a:rPr>
              <a:t>eigenvalues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are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present.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700574" y="2068898"/>
            <a:ext cx="5029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20">
                <a:latin typeface="LM Sans 10"/>
                <a:cs typeface="Arial"/>
              </a:rPr>
              <a:t>However,</a:t>
            </a:r>
            <a:r>
              <a:rPr dirty="0" sz="1100" spc="45">
                <a:latin typeface="LM Sans 10"/>
                <a:cs typeface="Arial"/>
              </a:rPr>
              <a:t> </a:t>
            </a:r>
            <a:r>
              <a:rPr dirty="0" sz="1100" spc="-20">
                <a:latin typeface="LM Sans 10"/>
                <a:cs typeface="Arial"/>
              </a:rPr>
              <a:t>they</a:t>
            </a:r>
            <a:endParaRPr sz="6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881718" y="2188520"/>
            <a:ext cx="16211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>
                <a:latin typeface="LM Sans 10"/>
                <a:cs typeface="Arial"/>
              </a:rPr>
              <a:t>struggle</a:t>
            </a:r>
            <a:r>
              <a:rPr dirty="0" sz="1100" spc="3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with</a:t>
            </a:r>
            <a:r>
              <a:rPr dirty="0" sz="1100" spc="3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nonlinear</a:t>
            </a:r>
            <a:r>
              <a:rPr dirty="0" sz="1100" spc="3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deformations,</a:t>
            </a:r>
            <a:r>
              <a:rPr dirty="0" sz="1100" spc="3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which</a:t>
            </a:r>
            <a:r>
              <a:rPr dirty="0" sz="1100" spc="35">
                <a:latin typeface="LM Sans 10"/>
                <a:cs typeface="Arial"/>
              </a:rPr>
              <a:t> </a:t>
            </a:r>
            <a:r>
              <a:rPr dirty="0" sz="1100" spc="-25">
                <a:latin typeface="LM Sans 10"/>
                <a:cs typeface="Arial"/>
              </a:rPr>
              <a:t>are</a:t>
            </a:r>
            <a:endParaRPr sz="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894418" y="2305354"/>
            <a:ext cx="1806575" cy="15240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1100">
                <a:latin typeface="LM Sans 10"/>
                <a:cs typeface="Arial"/>
              </a:rPr>
              <a:t>better</a:t>
            </a:r>
            <a:r>
              <a:rPr dirty="0" sz="1100" spc="3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handled</a:t>
            </a:r>
            <a:r>
              <a:rPr dirty="0" sz="1100" spc="3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by</a:t>
            </a:r>
            <a:r>
              <a:rPr dirty="0" sz="1100" spc="3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geometric</a:t>
            </a:r>
            <a:r>
              <a:rPr dirty="0" sz="1100" spc="40">
                <a:latin typeface="LM Sans 10"/>
                <a:cs typeface="Arial"/>
              </a:rPr>
              <a:t> </a:t>
            </a:r>
            <a:r>
              <a:rPr dirty="0" sz="1100" spc="-30">
                <a:latin typeface="LM Sans 10"/>
                <a:cs typeface="Arial"/>
              </a:rPr>
              <a:t>approaches</a:t>
            </a:r>
            <a:r>
              <a:rPr dirty="0" sz="1100" spc="3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in</a:t>
            </a:r>
            <a:r>
              <a:rPr dirty="0" sz="1100" spc="3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[28637].</a:t>
            </a:r>
            <a:endParaRPr sz="6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28536" y="2721584"/>
            <a:ext cx="5436235" cy="0"/>
          </a:xfrm>
          <a:custGeom>
            <a:avLst/>
            <a:gdLst/>
            <a:ahLst/>
            <a:cxnLst/>
            <a:rect l="l" t="t" r="r" b="b"/>
            <a:pathLst>
              <a:path w="5436235" h="0">
                <a:moveTo>
                  <a:pt x="0" y="0"/>
                </a:moveTo>
                <a:lnTo>
                  <a:pt x="54359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15836" y="2703570"/>
            <a:ext cx="5461635" cy="19431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75"/>
              </a:spcBef>
            </a:pPr>
            <a:r>
              <a:rPr dirty="0" sz="1100">
                <a:solidFill>
                  <a:srgbClr val="7F807F"/>
                </a:solidFill>
                <a:latin typeface="LM Sans 10"/>
                <a:cs typeface="Arial"/>
                <a:hlinkClick r:id="rId2" action="ppaction://hlinksldjump"/>
              </a:rPr>
              <a:t>[3]</a:t>
            </a:r>
            <a:r>
              <a:rPr dirty="0" sz="1100" spc="-10">
                <a:solidFill>
                  <a:srgbClr val="7F807F"/>
                </a:solidFill>
                <a:latin typeface="LM Sans 10"/>
                <a:cs typeface="Arial"/>
              </a:rPr>
              <a:t> </a:t>
            </a:r>
            <a:r>
              <a:rPr dirty="0" sz="11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Xiaochuan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Liu</a:t>
            </a:r>
            <a:r>
              <a:rPr dirty="0" sz="11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et</a:t>
            </a:r>
            <a:r>
              <a:rPr dirty="0" sz="11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al.</a:t>
            </a:r>
            <a:r>
              <a:rPr dirty="0" sz="11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latin typeface="LM Sans 10"/>
                <a:cs typeface="Arial"/>
                <a:hlinkClick r:id="rId2" action="ppaction://hlinksldjump"/>
              </a:rPr>
              <a:t>“Select,</a:t>
            </a:r>
            <a:r>
              <a:rPr dirty="0" sz="11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25">
                <a:latin typeface="LM Sans 10"/>
                <a:cs typeface="Arial"/>
                <a:hlinkClick r:id="rId2" action="ppaction://hlinksldjump"/>
              </a:rPr>
              <a:t>Read,</a:t>
            </a:r>
            <a:r>
              <a:rPr dirty="0" sz="1100" spc="-10">
                <a:latin typeface="LM Sans 10"/>
                <a:cs typeface="Arial"/>
                <a:hlinkClick r:id="rId2" action="ppaction://hlinksldjump"/>
              </a:rPr>
              <a:t> and </a:t>
            </a:r>
            <a:r>
              <a:rPr dirty="0" sz="1100">
                <a:latin typeface="LM Sans 10"/>
                <a:cs typeface="Arial"/>
                <a:hlinkClick r:id="rId2" action="ppaction://hlinksldjump"/>
              </a:rPr>
              <a:t>Write:</a:t>
            </a:r>
            <a:r>
              <a:rPr dirty="0" sz="11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latin typeface="LM Sans 10"/>
                <a:cs typeface="Arial"/>
                <a:hlinkClick r:id="rId2" action="ppaction://hlinksldjump"/>
              </a:rPr>
              <a:t>A</a:t>
            </a:r>
            <a:r>
              <a:rPr dirty="0" sz="11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latin typeface="LM Sans 10"/>
                <a:cs typeface="Arial"/>
                <a:hlinkClick r:id="rId2" action="ppaction://hlinksldjump"/>
              </a:rPr>
              <a:t>Multi-Agent</a:t>
            </a:r>
            <a:r>
              <a:rPr dirty="0" sz="1100" spc="-10">
                <a:latin typeface="LM Sans 10"/>
                <a:cs typeface="Arial"/>
                <a:hlinkClick r:id="rId2" action="ppaction://hlinksldjump"/>
              </a:rPr>
              <a:t> Framework </a:t>
            </a:r>
            <a:r>
              <a:rPr dirty="0" sz="1100"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11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latin typeface="LM Sans 10"/>
                <a:cs typeface="Arial"/>
                <a:hlinkClick r:id="rId2" action="ppaction://hlinksldjump"/>
              </a:rPr>
              <a:t>Full-</a:t>
            </a:r>
            <a:r>
              <a:rPr dirty="0" sz="1100" spc="-20">
                <a:latin typeface="LM Sans 10"/>
                <a:cs typeface="Arial"/>
                <a:hlinkClick r:id="rId2" action="ppaction://hlinksldjump"/>
              </a:rPr>
              <a:t>Text-based</a:t>
            </a:r>
            <a:r>
              <a:rPr dirty="0" sz="1100" spc="-10">
                <a:latin typeface="LM Sans 10"/>
                <a:cs typeface="Arial"/>
                <a:hlinkClick r:id="rId2" action="ppaction://hlinksldjump"/>
              </a:rPr>
              <a:t> Related </a:t>
            </a:r>
            <a:r>
              <a:rPr dirty="0" sz="1100">
                <a:latin typeface="LM Sans 10"/>
                <a:cs typeface="Arial"/>
                <a:hlinkClick r:id="rId2" action="ppaction://hlinksldjump"/>
              </a:rPr>
              <a:t>Work</a:t>
            </a:r>
            <a:r>
              <a:rPr dirty="0" sz="1100" spc="-10">
                <a:latin typeface="LM Sans 10"/>
                <a:cs typeface="Arial"/>
                <a:hlinkClick r:id="rId2" action="ppaction://hlinksldjump"/>
              </a:rPr>
              <a:t> Generation”.</a:t>
            </a:r>
            <a:r>
              <a:rPr dirty="0" sz="1100" spc="-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In:</a:t>
            </a:r>
            <a:r>
              <a:rPr dirty="0" sz="11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Findings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the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Association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for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Computational</a:t>
            </a:r>
            <a:r>
              <a:rPr dirty="0" sz="11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Linguistics </a:t>
            </a:r>
            <a:r>
              <a:rPr dirty="0" sz="11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(2025).</a:t>
            </a:r>
            <a:r>
              <a:rPr dirty="0" sz="11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Accepted</a:t>
            </a:r>
            <a:r>
              <a:rPr dirty="0" sz="1100" spc="5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z="11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for</a:t>
            </a:r>
            <a:r>
              <a:rPr dirty="0" sz="1100" spc="-4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1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publication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5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b="1">
                <a:latin typeface="LM Sans 10"/>
              </a:rPr>
              <a:t>Conclusions</a:t>
            </a:r>
            <a:r>
              <a:rPr dirty="0" spc="140" sz="1600" b="1">
                <a:latin typeface="LM Sans 10"/>
              </a:rPr>
              <a:t> </a:t>
            </a:r>
            <a:r>
              <a:rPr dirty="0" sz="1600" b="1">
                <a:latin typeface="LM Sans 10"/>
              </a:rPr>
              <a:t>and</a:t>
            </a:r>
            <a:r>
              <a:rPr dirty="0" spc="145" sz="1600" b="1">
                <a:latin typeface="LM Sans 10"/>
              </a:rPr>
              <a:t> </a:t>
            </a:r>
            <a:r>
              <a:rPr dirty="0" sz="1600" b="1">
                <a:latin typeface="LM Sans 10"/>
              </a:rPr>
              <a:t>Future</a:t>
            </a:r>
            <a:r>
              <a:rPr dirty="0" spc="145" sz="1600" b="1">
                <a:latin typeface="LM Sans 10"/>
              </a:rPr>
              <a:t> </a:t>
            </a:r>
            <a:r>
              <a:rPr dirty="0" spc="-20" sz="1600" b="1">
                <a:latin typeface="LM Sans 10"/>
              </a:rPr>
              <a:t>Work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7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67297" y="498580"/>
            <a:ext cx="5050155" cy="133223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100" spc="495">
                <a:solidFill>
                  <a:srgbClr val="FF0000"/>
                </a:solidFill>
                <a:latin typeface="LM Sans 10"/>
                <a:cs typeface="Arial"/>
              </a:rPr>
              <a:t>I</a:t>
            </a:r>
            <a:r>
              <a:rPr dirty="0" sz="1100" spc="30">
                <a:solidFill>
                  <a:srgbClr val="FF0000"/>
                </a:solidFill>
                <a:latin typeface="LM Sans 10"/>
                <a:cs typeface="Arial"/>
              </a:rPr>
              <a:t> </a:t>
            </a:r>
            <a:r>
              <a:rPr dirty="0" sz="1100" spc="-30">
                <a:latin typeface="LM Sans 10"/>
                <a:cs typeface="Arial Black"/>
              </a:rPr>
              <a:t>Conclusions</a:t>
            </a:r>
            <a:endParaRPr sz="900">
              <a:latin typeface="Arial Black"/>
              <a:cs typeface="Arial Black"/>
            </a:endParaRPr>
          </a:p>
          <a:p>
            <a:pPr marL="237490" marR="62230" indent="-115570">
              <a:lnSpc>
                <a:spcPct val="101499"/>
              </a:lnSpc>
              <a:spcBef>
                <a:spcPts val="265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40029" algn="l"/>
              </a:tabLst>
            </a:pPr>
            <a:r>
              <a:rPr dirty="0" sz="1100" spc="-105">
                <a:latin typeface="LM Sans 10"/>
                <a:cs typeface="Arial Black"/>
              </a:rPr>
              <a:t>Collaborative</a:t>
            </a:r>
            <a:r>
              <a:rPr dirty="0" sz="1100" spc="25">
                <a:latin typeface="LM Sans 10"/>
                <a:cs typeface="Arial Black"/>
              </a:rPr>
              <a:t> </a:t>
            </a:r>
            <a:r>
              <a:rPr dirty="0" sz="1100" spc="-110">
                <a:latin typeface="LM Sans 10"/>
                <a:cs typeface="Arial Black"/>
              </a:rPr>
              <a:t>Framework:</a:t>
            </a:r>
            <a:r>
              <a:rPr dirty="0" sz="1100" spc="35">
                <a:latin typeface="LM Sans 10"/>
                <a:cs typeface="Arial Black"/>
              </a:rPr>
              <a:t> </a:t>
            </a:r>
            <a:r>
              <a:rPr dirty="0" sz="1100" spc="-30">
                <a:latin typeface="LM Sans 10"/>
                <a:cs typeface="Arial"/>
              </a:rPr>
              <a:t>Proposed </a:t>
            </a:r>
            <a:r>
              <a:rPr dirty="0" sz="1100" spc="-10">
                <a:latin typeface="LM Sans 10"/>
                <a:cs typeface="Arial"/>
              </a:rPr>
              <a:t>CREW,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a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 spc="-40">
                <a:latin typeface="LM Sans 10"/>
                <a:cs typeface="Arial"/>
              </a:rPr>
              <a:t>MARL-</a:t>
            </a:r>
            <a:r>
              <a:rPr dirty="0" sz="1100" spc="-10">
                <a:latin typeface="LM Sans 10"/>
                <a:cs typeface="Arial"/>
              </a:rPr>
              <a:t>based</a:t>
            </a:r>
            <a:r>
              <a:rPr dirty="0" sz="1100" spc="15">
                <a:latin typeface="LM Sans 10"/>
                <a:cs typeface="Arial"/>
              </a:rPr>
              <a:t> </a:t>
            </a:r>
            <a:r>
              <a:rPr dirty="0" sz="1100" spc="-35">
                <a:latin typeface="LM Sans 10"/>
                <a:cs typeface="Arial"/>
              </a:rPr>
              <a:t>system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for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automated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related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 spc="-20">
                <a:latin typeface="LM Sans 10"/>
                <a:cs typeface="Arial"/>
              </a:rPr>
              <a:t>work </a:t>
            </a:r>
            <a:r>
              <a:rPr dirty="0" sz="1100" spc="-20">
                <a:latin typeface="LM Sans 10"/>
                <a:cs typeface="Arial"/>
              </a:rPr>
              <a:t>	</a:t>
            </a:r>
            <a:r>
              <a:rPr dirty="0" sz="1100" spc="-10">
                <a:latin typeface="LM Sans 10"/>
                <a:cs typeface="Arial"/>
              </a:rPr>
              <a:t>summarization.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0000B3"/>
              </a:buClr>
              <a:buFont typeface="Arial"/>
              <a:buChar char="•"/>
            </a:pPr>
            <a:endParaRPr sz="900">
              <a:latin typeface="Arial"/>
              <a:cs typeface="Arial"/>
            </a:endParaRPr>
          </a:p>
          <a:p>
            <a:pPr marL="238125" indent="-115570">
              <a:lnSpc>
                <a:spcPct val="100000"/>
              </a:lnSpc>
              <a:buClr>
                <a:srgbClr val="0000B3"/>
              </a:buClr>
              <a:buSzPct val="66666"/>
              <a:buFont typeface="Arial"/>
              <a:buChar char="•"/>
              <a:tabLst>
                <a:tab pos="238125" algn="l"/>
              </a:tabLst>
            </a:pPr>
            <a:r>
              <a:rPr dirty="0" sz="1100" spc="-105">
                <a:latin typeface="LM Sans 10"/>
                <a:cs typeface="Arial Black"/>
              </a:rPr>
              <a:t>Empirical</a:t>
            </a:r>
            <a:r>
              <a:rPr dirty="0" sz="1100" spc="25">
                <a:latin typeface="LM Sans 10"/>
                <a:cs typeface="Arial Black"/>
              </a:rPr>
              <a:t> </a:t>
            </a:r>
            <a:r>
              <a:rPr dirty="0" sz="1100" spc="-135">
                <a:latin typeface="LM Sans 10"/>
                <a:cs typeface="Arial Black"/>
              </a:rPr>
              <a:t>Success:</a:t>
            </a:r>
            <a:r>
              <a:rPr dirty="0" sz="1100" spc="60">
                <a:latin typeface="LM Sans 10"/>
                <a:cs typeface="Arial Black"/>
              </a:rPr>
              <a:t> </a:t>
            </a:r>
            <a:r>
              <a:rPr dirty="0" sz="1100" spc="-25">
                <a:latin typeface="LM Sans 10"/>
                <a:cs typeface="Arial"/>
              </a:rPr>
              <a:t>Improved</a:t>
            </a:r>
            <a:r>
              <a:rPr dirty="0" sz="1100" spc="-40">
                <a:latin typeface="LM Sans 10"/>
                <a:cs typeface="Arial"/>
              </a:rPr>
              <a:t> coverage,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 spc="-40">
                <a:latin typeface="LM Sans 10"/>
                <a:cs typeface="Arial"/>
              </a:rPr>
              <a:t>relevance,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and</a:t>
            </a:r>
            <a:r>
              <a:rPr dirty="0" sz="1100" spc="1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logic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through</a:t>
            </a:r>
            <a:r>
              <a:rPr dirty="0" sz="1100" spc="15">
                <a:latin typeface="LM Sans 10"/>
                <a:cs typeface="Arial"/>
              </a:rPr>
              <a:t> </a:t>
            </a:r>
            <a:r>
              <a:rPr dirty="0" sz="1100" spc="-20">
                <a:latin typeface="LM Sans 10"/>
                <a:cs typeface="Arial"/>
              </a:rPr>
              <a:t>dynamic</a:t>
            </a:r>
            <a:r>
              <a:rPr dirty="0" sz="1100" spc="1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agent</a:t>
            </a:r>
            <a:r>
              <a:rPr dirty="0" sz="1100" spc="1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coordination.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0"/>
              </a:spcBef>
              <a:buClr>
                <a:srgbClr val="0000B3"/>
              </a:buClr>
              <a:buFont typeface="Arial"/>
              <a:buChar char="•"/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 spc="495">
                <a:solidFill>
                  <a:srgbClr val="FF0000"/>
                </a:solidFill>
                <a:latin typeface="LM Sans 10"/>
                <a:cs typeface="Arial"/>
              </a:rPr>
              <a:t>I</a:t>
            </a:r>
            <a:r>
              <a:rPr dirty="0" sz="1100" spc="35">
                <a:solidFill>
                  <a:srgbClr val="FF0000"/>
                </a:solidFill>
                <a:latin typeface="LM Sans 10"/>
                <a:cs typeface="Arial"/>
              </a:rPr>
              <a:t> </a:t>
            </a:r>
            <a:r>
              <a:rPr dirty="0" sz="1100" spc="-90">
                <a:latin typeface="LM Sans 10"/>
                <a:cs typeface="Arial Black"/>
              </a:rPr>
              <a:t>Future</a:t>
            </a:r>
            <a:r>
              <a:rPr dirty="0" sz="1100" spc="35">
                <a:latin typeface="LM Sans 10"/>
                <a:cs typeface="Arial Black"/>
              </a:rPr>
              <a:t> </a:t>
            </a:r>
            <a:r>
              <a:rPr dirty="0" sz="1100" spc="-20">
                <a:latin typeface="LM Sans 10"/>
                <a:cs typeface="Arial Black"/>
              </a:rPr>
              <a:t>Work</a:t>
            </a:r>
            <a:endParaRPr sz="900">
              <a:latin typeface="Arial Black"/>
              <a:cs typeface="Arial Black"/>
            </a:endParaRPr>
          </a:p>
          <a:p>
            <a:pPr marL="238125" indent="-115570">
              <a:lnSpc>
                <a:spcPct val="100000"/>
              </a:lnSpc>
              <a:spcBef>
                <a:spcPts val="280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38125" algn="l"/>
              </a:tabLst>
            </a:pPr>
            <a:r>
              <a:rPr dirty="0" sz="1100" spc="-120">
                <a:latin typeface="LM Sans 10"/>
                <a:cs typeface="Arial Black"/>
              </a:rPr>
              <a:t>System</a:t>
            </a:r>
            <a:r>
              <a:rPr dirty="0" sz="1100" spc="25">
                <a:latin typeface="LM Sans 10"/>
                <a:cs typeface="Arial Black"/>
              </a:rPr>
              <a:t> </a:t>
            </a:r>
            <a:r>
              <a:rPr dirty="0" sz="1100" spc="-95">
                <a:latin typeface="LM Sans 10"/>
                <a:cs typeface="Arial Black"/>
              </a:rPr>
              <a:t>Expansion:</a:t>
            </a:r>
            <a:r>
              <a:rPr dirty="0" sz="1100" spc="20">
                <a:latin typeface="LM Sans 10"/>
                <a:cs typeface="Arial Black"/>
              </a:rPr>
              <a:t> </a:t>
            </a:r>
            <a:r>
              <a:rPr dirty="0" sz="1100" spc="-10">
                <a:latin typeface="LM Sans 10"/>
                <a:cs typeface="Arial"/>
              </a:rPr>
              <a:t>Integrate</a:t>
            </a:r>
            <a:r>
              <a:rPr dirty="0" sz="1100" spc="-55">
                <a:latin typeface="LM Sans 10"/>
                <a:cs typeface="Arial"/>
              </a:rPr>
              <a:t> </a:t>
            </a:r>
            <a:r>
              <a:rPr dirty="0" sz="1100" spc="-20">
                <a:latin typeface="LM Sans 10"/>
                <a:cs typeface="Arial"/>
              </a:rPr>
              <a:t>external</a:t>
            </a:r>
            <a:r>
              <a:rPr dirty="0" sz="1100" spc="-10">
                <a:latin typeface="LM Sans 10"/>
                <a:cs typeface="Arial"/>
              </a:rPr>
              <a:t> </a:t>
            </a:r>
            <a:r>
              <a:rPr dirty="0" sz="1100" spc="-35">
                <a:latin typeface="LM Sans 10"/>
                <a:cs typeface="Arial"/>
              </a:rPr>
              <a:t>database</a:t>
            </a:r>
            <a:r>
              <a:rPr dirty="0" sz="1100" spc="-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crawling</a:t>
            </a:r>
            <a:r>
              <a:rPr dirty="0" sz="1100" spc="-5">
                <a:latin typeface="LM Sans 10"/>
                <a:cs typeface="Arial"/>
              </a:rPr>
              <a:t> </a:t>
            </a:r>
            <a:r>
              <a:rPr dirty="0" sz="1100">
                <a:latin typeface="LM Sans 10"/>
                <a:cs typeface="Arial"/>
              </a:rPr>
              <a:t>and</a:t>
            </a:r>
            <a:r>
              <a:rPr dirty="0" sz="1100" spc="-5">
                <a:latin typeface="LM Sans 10"/>
                <a:cs typeface="Arial"/>
              </a:rPr>
              <a:t> </a:t>
            </a:r>
            <a:r>
              <a:rPr dirty="0" sz="1100" spc="-20">
                <a:latin typeface="LM Sans 10"/>
                <a:cs typeface="Arial"/>
              </a:rPr>
              <a:t>dynamic</a:t>
            </a:r>
            <a:r>
              <a:rPr dirty="0" sz="1100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online</a:t>
            </a:r>
            <a:r>
              <a:rPr dirty="0" sz="1100" spc="-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document</a:t>
            </a:r>
            <a:r>
              <a:rPr dirty="0" sz="1100" spc="-5">
                <a:latin typeface="LM Sans 10"/>
                <a:cs typeface="Arial"/>
              </a:rPr>
              <a:t> </a:t>
            </a:r>
            <a:r>
              <a:rPr dirty="0" sz="1100" spc="-10">
                <a:latin typeface="LM Sans 10"/>
                <a:cs typeface="Arial"/>
              </a:rPr>
              <a:t>graphs.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2717" y="2324580"/>
            <a:ext cx="279590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solidFill>
                  <a:srgbClr val="FF0000"/>
                </a:solidFill>
                <a:latin typeface="LM Sans 10"/>
                <a:cs typeface="Arial Black"/>
              </a:rPr>
              <a:t>THANK</a:t>
            </a:r>
            <a:r>
              <a:rPr dirty="0" sz="1100" spc="-70">
                <a:solidFill>
                  <a:srgbClr val="FF0000"/>
                </a:solidFill>
                <a:latin typeface="LM Sans 10"/>
                <a:cs typeface="Arial Black"/>
              </a:rPr>
              <a:t> </a:t>
            </a:r>
            <a:r>
              <a:rPr dirty="0" sz="1100">
                <a:solidFill>
                  <a:srgbClr val="FF0000"/>
                </a:solidFill>
                <a:latin typeface="LM Sans 10"/>
                <a:cs typeface="Arial Black"/>
              </a:rPr>
              <a:t>YOU</a:t>
            </a:r>
            <a:r>
              <a:rPr dirty="0" sz="1100" spc="-65">
                <a:solidFill>
                  <a:srgbClr val="FF0000"/>
                </a:solidFill>
                <a:latin typeface="LM Sans 10"/>
                <a:cs typeface="Arial Black"/>
              </a:rPr>
              <a:t> </a:t>
            </a:r>
            <a:r>
              <a:rPr dirty="0" sz="1100" spc="-35">
                <a:solidFill>
                  <a:srgbClr val="FF0000"/>
                </a:solidFill>
                <a:latin typeface="LM Sans 10"/>
                <a:cs typeface="Arial Black"/>
              </a:rPr>
              <a:t>FOR</a:t>
            </a:r>
            <a:r>
              <a:rPr dirty="0" sz="1100" spc="-70">
                <a:solidFill>
                  <a:srgbClr val="FF0000"/>
                </a:solidFill>
                <a:latin typeface="LM Sans 10"/>
                <a:cs typeface="Arial Black"/>
              </a:rPr>
              <a:t> </a:t>
            </a:r>
            <a:r>
              <a:rPr dirty="0" sz="1100" spc="-50">
                <a:solidFill>
                  <a:srgbClr val="FF0000"/>
                </a:solidFill>
                <a:latin typeface="LM Sans 10"/>
                <a:cs typeface="Arial Black"/>
              </a:rPr>
              <a:t>LISTENING!</a:t>
            </a:r>
            <a:endParaRPr sz="1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88" cy="31364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 sz="1600" b="1">
                <a:latin typeface="LM Sans 10"/>
              </a:rPr>
              <a:t>References</a:t>
            </a:r>
            <a:r>
              <a:rPr dirty="0" spc="55" sz="1600" b="1">
                <a:latin typeface="LM Sans 10"/>
              </a:rPr>
              <a:t> </a:t>
            </a:r>
            <a:r>
              <a:rPr dirty="0" spc="-50" sz="1600" b="1">
                <a:latin typeface="LM Sans 10"/>
              </a:rPr>
              <a:t>I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7</a:t>
            </a:fld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00355" marR="586740" indent="-288290">
              <a:lnSpc>
                <a:spcPct val="102600"/>
              </a:lnSpc>
              <a:spcBef>
                <a:spcPts val="55"/>
              </a:spcBef>
              <a:buClr>
                <a:srgbClr val="3333B3"/>
              </a:buClr>
              <a:buFont typeface="Arial"/>
              <a:buAutoNum type="arabicPlain"/>
              <a:tabLst>
                <a:tab pos="300355" algn="l"/>
              </a:tabLst>
            </a:pPr>
            <a:r>
              <a:rPr dirty="0" spc="-60" sz="1100">
                <a:solidFill>
                  <a:srgbClr val="3333B3"/>
                </a:solidFill>
                <a:latin typeface="LM Sans 10"/>
              </a:rPr>
              <a:t>Cong</a:t>
            </a:r>
            <a:r>
              <a:rPr dirty="0" spc="-15" sz="1100">
                <a:solidFill>
                  <a:srgbClr val="3333B3"/>
                </a:solidFill>
                <a:latin typeface="LM Sans 10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</a:rPr>
              <a:t>Duy</a:t>
            </a:r>
            <a:r>
              <a:rPr dirty="0" spc="-35" sz="1100">
                <a:solidFill>
                  <a:srgbClr val="3333B3"/>
                </a:solidFill>
                <a:latin typeface="LM Sans 10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</a:rPr>
              <a:t>Vu</a:t>
            </a:r>
            <a:r>
              <a:rPr dirty="0" spc="-15" sz="1100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50" sz="1100">
                <a:solidFill>
                  <a:srgbClr val="3333B3"/>
                </a:solidFill>
                <a:latin typeface="LM Sans 10"/>
              </a:rPr>
              <a:t>Hoang</a:t>
            </a:r>
            <a:r>
              <a:rPr dirty="0" spc="-15" sz="1100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45" sz="1100">
                <a:solidFill>
                  <a:srgbClr val="3333B3"/>
                </a:solidFill>
                <a:latin typeface="LM Sans 10"/>
              </a:rPr>
              <a:t>and</a:t>
            </a:r>
            <a:r>
              <a:rPr dirty="0" spc="-10" sz="1100">
                <a:solidFill>
                  <a:srgbClr val="3333B3"/>
                </a:solidFill>
                <a:latin typeface="LM Sans 10"/>
              </a:rPr>
              <a:t> Min-</a:t>
            </a:r>
            <a:r>
              <a:rPr dirty="0" spc="-85" sz="1100">
                <a:solidFill>
                  <a:srgbClr val="3333B3"/>
                </a:solidFill>
                <a:latin typeface="LM Sans 10"/>
              </a:rPr>
              <a:t>Yen</a:t>
            </a:r>
            <a:r>
              <a:rPr dirty="0" spc="10" sz="1100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10" sz="1100">
                <a:solidFill>
                  <a:srgbClr val="3333B3"/>
                </a:solidFill>
                <a:latin typeface="LM Sans 10"/>
              </a:rPr>
              <a:t>Kan.</a:t>
            </a:r>
            <a:r>
              <a:rPr dirty="0" spc="-15" sz="1100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40" sz="1100">
                <a:latin typeface="LM Sans 10"/>
              </a:rPr>
              <a:t>“Towards</a:t>
            </a:r>
            <a:r>
              <a:rPr dirty="0" spc="-15" sz="1100">
                <a:latin typeface="LM Sans 10"/>
              </a:rPr>
              <a:t> </a:t>
            </a:r>
            <a:r>
              <a:rPr dirty="0" spc="-35" sz="1100">
                <a:latin typeface="LM Sans 10"/>
              </a:rPr>
              <a:t>automated</a:t>
            </a:r>
            <a:r>
              <a:rPr dirty="0" spc="-10" sz="1100">
                <a:latin typeface="LM Sans 10"/>
              </a:rPr>
              <a:t> </a:t>
            </a:r>
            <a:r>
              <a:rPr dirty="0" spc="-35" sz="1100">
                <a:latin typeface="LM Sans 10"/>
              </a:rPr>
              <a:t>related</a:t>
            </a:r>
            <a:r>
              <a:rPr dirty="0" spc="-15" sz="1100">
                <a:latin typeface="LM Sans 10"/>
              </a:rPr>
              <a:t> </a:t>
            </a:r>
            <a:r>
              <a:rPr dirty="0" spc="-20" sz="1100">
                <a:latin typeface="LM Sans 10"/>
              </a:rPr>
              <a:t>work </a:t>
            </a:r>
            <a:r>
              <a:rPr dirty="0" spc="-40" sz="1100">
                <a:latin typeface="LM Sans 10"/>
              </a:rPr>
              <a:t>summarization”.</a:t>
            </a:r>
            <a:r>
              <a:rPr dirty="0" spc="-10" sz="1100">
                <a:latin typeface="LM Sans 10"/>
              </a:rPr>
              <a:t> </a:t>
            </a:r>
            <a:r>
              <a:rPr dirty="0" sz="1100">
                <a:solidFill>
                  <a:srgbClr val="7A7ACD"/>
                </a:solidFill>
                <a:latin typeface="LM Sans 10"/>
              </a:rPr>
              <a:t>In:</a:t>
            </a:r>
            <a:r>
              <a:rPr dirty="0" spc="-5" sz="1100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35" i="1" sz="1100">
                <a:solidFill>
                  <a:srgbClr val="7A7ACD"/>
                </a:solidFill>
                <a:latin typeface="LM Sans 10"/>
                <a:cs typeface="Arial"/>
              </a:rPr>
              <a:t>Coling</a:t>
            </a:r>
            <a:r>
              <a:rPr dirty="0" spc="-5" i="1" sz="11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40" i="1" sz="1100">
                <a:solidFill>
                  <a:srgbClr val="7A7ACD"/>
                </a:solidFill>
                <a:latin typeface="LM Sans 10"/>
                <a:cs typeface="Arial"/>
              </a:rPr>
              <a:t>2010:</a:t>
            </a:r>
            <a:r>
              <a:rPr dirty="0" spc="-10" i="1" sz="11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45" i="1" sz="1100">
                <a:solidFill>
                  <a:srgbClr val="7A7ACD"/>
                </a:solidFill>
                <a:latin typeface="LM Sans 10"/>
                <a:cs typeface="Arial"/>
              </a:rPr>
              <a:t>Posters</a:t>
            </a:r>
            <a:r>
              <a:rPr dirty="0" spc="-45" sz="1100">
                <a:solidFill>
                  <a:srgbClr val="7A7ACD"/>
                </a:solidFill>
                <a:latin typeface="LM Sans 10"/>
              </a:rPr>
              <a:t>.</a:t>
            </a:r>
            <a:r>
              <a:rPr dirty="0" spc="-5" sz="1100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40" sz="1100">
                <a:solidFill>
                  <a:srgbClr val="7A7ACD"/>
                </a:solidFill>
                <a:latin typeface="LM Sans 10"/>
              </a:rPr>
              <a:t>2010,</a:t>
            </a:r>
            <a:r>
              <a:rPr dirty="0" spc="-5" sz="1100">
                <a:solidFill>
                  <a:srgbClr val="7A7ACD"/>
                </a:solidFill>
                <a:latin typeface="LM Sans 10"/>
              </a:rPr>
              <a:t> </a:t>
            </a:r>
            <a:r>
              <a:rPr dirty="0" sz="1100">
                <a:solidFill>
                  <a:srgbClr val="7A7ACD"/>
                </a:solidFill>
                <a:latin typeface="LM Sans 10"/>
              </a:rPr>
              <a:t>pp.</a:t>
            </a:r>
            <a:r>
              <a:rPr dirty="0" spc="-10" sz="1100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75" sz="1100">
                <a:solidFill>
                  <a:srgbClr val="7A7ACD"/>
                </a:solidFill>
                <a:latin typeface="LM Sans 10"/>
              </a:rPr>
              <a:t>427–</a:t>
            </a:r>
            <a:r>
              <a:rPr dirty="0" spc="-20" sz="1100">
                <a:solidFill>
                  <a:srgbClr val="7A7ACD"/>
                </a:solidFill>
                <a:latin typeface="LM Sans 10"/>
              </a:rPr>
              <a:t>435.</a:t>
            </a:r>
          </a:p>
          <a:p>
            <a:pPr marL="300355" marR="5080" indent="-288290">
              <a:lnSpc>
                <a:spcPct val="102600"/>
              </a:lnSpc>
              <a:spcBef>
                <a:spcPts val="450"/>
              </a:spcBef>
              <a:buClr>
                <a:srgbClr val="3333B3"/>
              </a:buClr>
              <a:buFont typeface="Arial"/>
              <a:buAutoNum type="arabicPlain"/>
              <a:tabLst>
                <a:tab pos="300355" algn="l"/>
              </a:tabLst>
            </a:pPr>
            <a:r>
              <a:rPr dirty="0" spc="-55" sz="1100">
                <a:solidFill>
                  <a:srgbClr val="3333B3"/>
                </a:solidFill>
                <a:latin typeface="LM Sans 10"/>
              </a:rPr>
              <a:t>Wen</a:t>
            </a:r>
            <a:r>
              <a:rPr dirty="0" spc="-20" sz="1100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10" sz="1100">
                <a:solidFill>
                  <a:srgbClr val="3333B3"/>
                </a:solidFill>
                <a:latin typeface="LM Sans 10"/>
              </a:rPr>
              <a:t>Xiao</a:t>
            </a:r>
            <a:r>
              <a:rPr dirty="0" spc="-25" sz="1100">
                <a:solidFill>
                  <a:srgbClr val="3333B3"/>
                </a:solidFill>
                <a:latin typeface="LM Sans 10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</a:rPr>
              <a:t>et</a:t>
            </a:r>
            <a:r>
              <a:rPr dirty="0" spc="-15" sz="1100">
                <a:solidFill>
                  <a:srgbClr val="3333B3"/>
                </a:solidFill>
                <a:latin typeface="LM Sans 10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</a:rPr>
              <a:t>al.</a:t>
            </a:r>
            <a:r>
              <a:rPr dirty="0" spc="-15" sz="1100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10" sz="1100">
                <a:latin typeface="LM Sans 10"/>
              </a:rPr>
              <a:t>“PRIMERA:</a:t>
            </a:r>
            <a:r>
              <a:rPr dirty="0" spc="-15" sz="1100">
                <a:latin typeface="LM Sans 10"/>
              </a:rPr>
              <a:t> </a:t>
            </a:r>
            <a:r>
              <a:rPr dirty="0" spc="-55" sz="1100">
                <a:latin typeface="LM Sans 10"/>
              </a:rPr>
              <a:t>Pyramid-</a:t>
            </a:r>
            <a:r>
              <a:rPr dirty="0" spc="-45" sz="1100">
                <a:latin typeface="LM Sans 10"/>
              </a:rPr>
              <a:t>based</a:t>
            </a:r>
            <a:r>
              <a:rPr dirty="0" spc="-15" sz="1100">
                <a:latin typeface="LM Sans 10"/>
              </a:rPr>
              <a:t> </a:t>
            </a:r>
            <a:r>
              <a:rPr dirty="0" spc="-60" sz="1100">
                <a:latin typeface="LM Sans 10"/>
              </a:rPr>
              <a:t>Masked</a:t>
            </a:r>
            <a:r>
              <a:rPr dirty="0" spc="-15" sz="1100">
                <a:latin typeface="LM Sans 10"/>
              </a:rPr>
              <a:t> </a:t>
            </a:r>
            <a:r>
              <a:rPr dirty="0" spc="-70" sz="1100">
                <a:latin typeface="LM Sans 10"/>
              </a:rPr>
              <a:t>Sentence</a:t>
            </a:r>
            <a:r>
              <a:rPr dirty="0" spc="-5" sz="1100">
                <a:latin typeface="LM Sans 10"/>
              </a:rPr>
              <a:t> </a:t>
            </a:r>
            <a:r>
              <a:rPr dirty="0" spc="-35" sz="1100">
                <a:latin typeface="LM Sans 10"/>
              </a:rPr>
              <a:t>Pre-</a:t>
            </a:r>
            <a:r>
              <a:rPr dirty="0" spc="-10" sz="1100">
                <a:latin typeface="LM Sans 10"/>
              </a:rPr>
              <a:t>training</a:t>
            </a:r>
            <a:r>
              <a:rPr dirty="0" spc="-15" sz="1100">
                <a:latin typeface="LM Sans 10"/>
              </a:rPr>
              <a:t> </a:t>
            </a:r>
            <a:r>
              <a:rPr dirty="0" spc="-25" sz="1100">
                <a:latin typeface="LM Sans 10"/>
              </a:rPr>
              <a:t>for</a:t>
            </a:r>
            <a:r>
              <a:rPr dirty="0" spc="500" sz="1100">
                <a:latin typeface="LM Sans 10"/>
              </a:rPr>
              <a:t> </a:t>
            </a:r>
            <a:r>
              <a:rPr dirty="0" spc="-10" sz="1100">
                <a:latin typeface="LM Sans 10"/>
              </a:rPr>
              <a:t>Multi-</a:t>
            </a:r>
            <a:r>
              <a:rPr dirty="0" spc="-20" sz="1100">
                <a:latin typeface="LM Sans 10"/>
              </a:rPr>
              <a:t>document</a:t>
            </a:r>
            <a:r>
              <a:rPr dirty="0" sz="1100">
                <a:latin typeface="LM Sans 10"/>
              </a:rPr>
              <a:t> </a:t>
            </a:r>
            <a:r>
              <a:rPr dirty="0" spc="-40" sz="1100">
                <a:latin typeface="LM Sans 10"/>
              </a:rPr>
              <a:t>Summarization”.</a:t>
            </a:r>
            <a:r>
              <a:rPr dirty="0" sz="1100">
                <a:latin typeface="LM Sans 10"/>
              </a:rPr>
              <a:t> </a:t>
            </a:r>
            <a:r>
              <a:rPr dirty="0" sz="1100">
                <a:solidFill>
                  <a:srgbClr val="7A7ACD"/>
                </a:solidFill>
                <a:latin typeface="LM Sans 10"/>
              </a:rPr>
              <a:t>In:</a:t>
            </a:r>
            <a:r>
              <a:rPr dirty="0" spc="5" sz="1100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60" i="1" sz="1100">
                <a:solidFill>
                  <a:srgbClr val="7A7ACD"/>
                </a:solidFill>
                <a:latin typeface="LM Sans 10"/>
                <a:cs typeface="Arial"/>
              </a:rPr>
              <a:t>Proceedings</a:t>
            </a:r>
            <a:r>
              <a:rPr dirty="0" i="1" sz="1100">
                <a:solidFill>
                  <a:srgbClr val="7A7ACD"/>
                </a:solidFill>
                <a:latin typeface="LM Sans 10"/>
                <a:cs typeface="Arial"/>
              </a:rPr>
              <a:t> of the</a:t>
            </a:r>
            <a:r>
              <a:rPr dirty="0" spc="5" i="1" sz="11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i="1" sz="1100">
                <a:solidFill>
                  <a:srgbClr val="7A7ACD"/>
                </a:solidFill>
                <a:latin typeface="LM Sans 10"/>
                <a:cs typeface="Arial"/>
              </a:rPr>
              <a:t>60th </a:t>
            </a:r>
            <a:r>
              <a:rPr dirty="0" spc="-25" i="1" sz="1100">
                <a:solidFill>
                  <a:srgbClr val="7A7ACD"/>
                </a:solidFill>
                <a:latin typeface="LM Sans 10"/>
                <a:cs typeface="Arial"/>
              </a:rPr>
              <a:t>Annual</a:t>
            </a:r>
            <a:r>
              <a:rPr dirty="0" i="1" sz="11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25" i="1" sz="1100">
                <a:solidFill>
                  <a:srgbClr val="7A7ACD"/>
                </a:solidFill>
                <a:latin typeface="LM Sans 10"/>
                <a:cs typeface="Arial"/>
              </a:rPr>
              <a:t>Meeting</a:t>
            </a:r>
            <a:r>
              <a:rPr dirty="0" spc="5" i="1" sz="11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i="1" sz="1100">
                <a:solidFill>
                  <a:srgbClr val="7A7ACD"/>
                </a:solidFill>
                <a:latin typeface="LM Sans 10"/>
                <a:cs typeface="Arial"/>
              </a:rPr>
              <a:t>of </a:t>
            </a:r>
            <a:r>
              <a:rPr dirty="0" spc="-25" i="1" sz="1100">
                <a:solidFill>
                  <a:srgbClr val="7A7ACD"/>
                </a:solidFill>
                <a:latin typeface="LM Sans 10"/>
                <a:cs typeface="Arial"/>
              </a:rPr>
              <a:t>the</a:t>
            </a:r>
            <a:r>
              <a:rPr dirty="0" spc="-25" i="1" sz="11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40" i="1" sz="1100">
                <a:solidFill>
                  <a:srgbClr val="7A7ACD"/>
                </a:solidFill>
                <a:latin typeface="LM Sans 10"/>
                <a:cs typeface="Arial"/>
              </a:rPr>
              <a:t>Association</a:t>
            </a:r>
            <a:r>
              <a:rPr dirty="0" i="1" sz="1100">
                <a:solidFill>
                  <a:srgbClr val="7A7ACD"/>
                </a:solidFill>
                <a:latin typeface="LM Sans 10"/>
                <a:cs typeface="Arial"/>
              </a:rPr>
              <a:t> for </a:t>
            </a:r>
            <a:r>
              <a:rPr dirty="0" spc="-30" i="1" sz="1100">
                <a:solidFill>
                  <a:srgbClr val="7A7ACD"/>
                </a:solidFill>
                <a:latin typeface="LM Sans 10"/>
                <a:cs typeface="Arial"/>
              </a:rPr>
              <a:t>Computational</a:t>
            </a:r>
            <a:r>
              <a:rPr dirty="0" i="1" sz="11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35" i="1" sz="1100">
                <a:solidFill>
                  <a:srgbClr val="7A7ACD"/>
                </a:solidFill>
                <a:latin typeface="LM Sans 10"/>
                <a:cs typeface="Arial"/>
              </a:rPr>
              <a:t>Linguistics</a:t>
            </a:r>
            <a:r>
              <a:rPr dirty="0" spc="5" i="1" sz="11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30" i="1" sz="1100">
                <a:solidFill>
                  <a:srgbClr val="7A7ACD"/>
                </a:solidFill>
                <a:latin typeface="LM Sans 10"/>
                <a:cs typeface="Arial"/>
              </a:rPr>
              <a:t>(Volume</a:t>
            </a:r>
            <a:r>
              <a:rPr dirty="0" i="1" sz="1100">
                <a:solidFill>
                  <a:srgbClr val="7A7ACD"/>
                </a:solidFill>
                <a:latin typeface="LM Sans 10"/>
                <a:cs typeface="Arial"/>
              </a:rPr>
              <a:t> 1: </a:t>
            </a:r>
            <a:r>
              <a:rPr dirty="0" spc="-40" i="1" sz="1100">
                <a:solidFill>
                  <a:srgbClr val="7A7ACD"/>
                </a:solidFill>
                <a:latin typeface="LM Sans 10"/>
                <a:cs typeface="Arial"/>
              </a:rPr>
              <a:t>Long</a:t>
            </a:r>
            <a:r>
              <a:rPr dirty="0" spc="5" i="1" sz="11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40" i="1" sz="1100">
                <a:solidFill>
                  <a:srgbClr val="7A7ACD"/>
                </a:solidFill>
                <a:latin typeface="LM Sans 10"/>
                <a:cs typeface="Arial"/>
              </a:rPr>
              <a:t>Papers)</a:t>
            </a:r>
            <a:r>
              <a:rPr dirty="0" spc="-40" sz="1100">
                <a:solidFill>
                  <a:srgbClr val="7A7ACD"/>
                </a:solidFill>
                <a:latin typeface="LM Sans 10"/>
              </a:rPr>
              <a:t>.</a:t>
            </a:r>
            <a:r>
              <a:rPr dirty="0" sz="1100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10" sz="1100">
                <a:solidFill>
                  <a:srgbClr val="7A7ACD"/>
                </a:solidFill>
                <a:latin typeface="LM Sans 10"/>
              </a:rPr>
              <a:t>2022,</a:t>
            </a:r>
          </a:p>
          <a:p>
            <a:pPr marL="300355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solidFill>
                  <a:srgbClr val="7A7ACD"/>
                </a:solidFill>
                <a:latin typeface="LM Sans 10"/>
              </a:rPr>
              <a:t>pp.</a:t>
            </a:r>
            <a:r>
              <a:rPr dirty="0" spc="-15" sz="1100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75" sz="1100">
                <a:solidFill>
                  <a:srgbClr val="7A7ACD"/>
                </a:solidFill>
                <a:latin typeface="LM Sans 10"/>
              </a:rPr>
              <a:t>5245–</a:t>
            </a:r>
            <a:r>
              <a:rPr dirty="0" spc="-10" sz="1100">
                <a:solidFill>
                  <a:srgbClr val="7A7ACD"/>
                </a:solidFill>
                <a:latin typeface="LM Sans 10"/>
              </a:rPr>
              <a:t>5263.</a:t>
            </a:r>
          </a:p>
          <a:p>
            <a:pPr marL="300355" marR="414020" indent="-288290">
              <a:lnSpc>
                <a:spcPct val="102600"/>
              </a:lnSpc>
              <a:spcBef>
                <a:spcPts val="450"/>
              </a:spcBef>
              <a:buClr>
                <a:srgbClr val="3333B3"/>
              </a:buClr>
              <a:buFont typeface="Arial"/>
              <a:buAutoNum type="arabicPlain" startAt="3"/>
              <a:tabLst>
                <a:tab pos="300355" algn="l"/>
              </a:tabLst>
            </a:pPr>
            <a:r>
              <a:rPr dirty="0" spc="-40" sz="1100">
                <a:solidFill>
                  <a:srgbClr val="3333B3"/>
                </a:solidFill>
                <a:latin typeface="LM Sans 10"/>
              </a:rPr>
              <a:t>Xiaochuan</a:t>
            </a:r>
            <a:r>
              <a:rPr dirty="0" spc="10" sz="1100">
                <a:solidFill>
                  <a:srgbClr val="3333B3"/>
                </a:solidFill>
                <a:latin typeface="LM Sans 10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</a:rPr>
              <a:t>Liu</a:t>
            </a:r>
            <a:r>
              <a:rPr dirty="0" spc="15" sz="1100">
                <a:solidFill>
                  <a:srgbClr val="3333B3"/>
                </a:solidFill>
                <a:latin typeface="LM Sans 10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</a:rPr>
              <a:t>et</a:t>
            </a:r>
            <a:r>
              <a:rPr dirty="0" spc="10" sz="1100">
                <a:solidFill>
                  <a:srgbClr val="3333B3"/>
                </a:solidFill>
                <a:latin typeface="LM Sans 10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</a:rPr>
              <a:t>al.</a:t>
            </a:r>
            <a:r>
              <a:rPr dirty="0" spc="15" sz="1100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20" sz="1100">
                <a:latin typeface="LM Sans 10"/>
              </a:rPr>
              <a:t>“Select,</a:t>
            </a:r>
            <a:r>
              <a:rPr dirty="0" spc="10" sz="1100">
                <a:latin typeface="LM Sans 10"/>
              </a:rPr>
              <a:t> </a:t>
            </a:r>
            <a:r>
              <a:rPr dirty="0" spc="-70" sz="1100">
                <a:latin typeface="LM Sans 10"/>
              </a:rPr>
              <a:t>Read,</a:t>
            </a:r>
            <a:r>
              <a:rPr dirty="0" spc="15" sz="1100">
                <a:latin typeface="LM Sans 10"/>
              </a:rPr>
              <a:t> </a:t>
            </a:r>
            <a:r>
              <a:rPr dirty="0" spc="-45" sz="1100">
                <a:latin typeface="LM Sans 10"/>
              </a:rPr>
              <a:t>and</a:t>
            </a:r>
            <a:r>
              <a:rPr dirty="0" spc="10" sz="1100">
                <a:latin typeface="LM Sans 10"/>
              </a:rPr>
              <a:t> </a:t>
            </a:r>
            <a:r>
              <a:rPr dirty="0" sz="1100">
                <a:latin typeface="LM Sans 10"/>
              </a:rPr>
              <a:t>Write:</a:t>
            </a:r>
            <a:r>
              <a:rPr dirty="0" spc="15" sz="1100">
                <a:latin typeface="LM Sans 10"/>
              </a:rPr>
              <a:t> </a:t>
            </a:r>
            <a:r>
              <a:rPr dirty="0" sz="1100">
                <a:latin typeface="LM Sans 10"/>
              </a:rPr>
              <a:t>A</a:t>
            </a:r>
            <a:r>
              <a:rPr dirty="0" spc="10" sz="1100">
                <a:latin typeface="LM Sans 10"/>
              </a:rPr>
              <a:t> </a:t>
            </a:r>
            <a:r>
              <a:rPr dirty="0" spc="-10" sz="1100">
                <a:latin typeface="LM Sans 10"/>
              </a:rPr>
              <a:t>Multi-</a:t>
            </a:r>
            <a:r>
              <a:rPr dirty="0" sz="1100">
                <a:latin typeface="LM Sans 10"/>
              </a:rPr>
              <a:t>Agent</a:t>
            </a:r>
            <a:r>
              <a:rPr dirty="0" spc="15" sz="1100">
                <a:latin typeface="LM Sans 10"/>
              </a:rPr>
              <a:t> </a:t>
            </a:r>
            <a:r>
              <a:rPr dirty="0" spc="-65" sz="1100">
                <a:latin typeface="LM Sans 10"/>
              </a:rPr>
              <a:t>Framework</a:t>
            </a:r>
            <a:r>
              <a:rPr dirty="0" spc="10" sz="1100">
                <a:latin typeface="LM Sans 10"/>
              </a:rPr>
              <a:t> </a:t>
            </a:r>
            <a:r>
              <a:rPr dirty="0" spc="-25" sz="1100">
                <a:latin typeface="LM Sans 10"/>
              </a:rPr>
              <a:t>of Full-</a:t>
            </a:r>
            <a:r>
              <a:rPr dirty="0" spc="-65" sz="1100">
                <a:latin typeface="LM Sans 10"/>
              </a:rPr>
              <a:t>Text-</a:t>
            </a:r>
            <a:r>
              <a:rPr dirty="0" spc="-50" sz="1100">
                <a:latin typeface="LM Sans 10"/>
              </a:rPr>
              <a:t>based</a:t>
            </a:r>
            <a:r>
              <a:rPr dirty="0" spc="-5" sz="1100">
                <a:latin typeface="LM Sans 10"/>
              </a:rPr>
              <a:t> </a:t>
            </a:r>
            <a:r>
              <a:rPr dirty="0" spc="-50" sz="1100">
                <a:latin typeface="LM Sans 10"/>
              </a:rPr>
              <a:t>Related</a:t>
            </a:r>
            <a:r>
              <a:rPr dirty="0" sz="1100">
                <a:latin typeface="LM Sans 10"/>
              </a:rPr>
              <a:t> </a:t>
            </a:r>
            <a:r>
              <a:rPr dirty="0" spc="-10" sz="1100">
                <a:latin typeface="LM Sans 10"/>
              </a:rPr>
              <a:t>Work</a:t>
            </a:r>
            <a:r>
              <a:rPr dirty="0" spc="-5" sz="1100">
                <a:latin typeface="LM Sans 10"/>
              </a:rPr>
              <a:t> </a:t>
            </a:r>
            <a:r>
              <a:rPr dirty="0" spc="-40" sz="1100">
                <a:latin typeface="LM Sans 10"/>
              </a:rPr>
              <a:t>Generation”.</a:t>
            </a:r>
            <a:r>
              <a:rPr dirty="0" sz="1100">
                <a:latin typeface="LM Sans 10"/>
              </a:rPr>
              <a:t> </a:t>
            </a:r>
            <a:r>
              <a:rPr dirty="0" sz="1100">
                <a:solidFill>
                  <a:srgbClr val="7A7ACD"/>
                </a:solidFill>
                <a:latin typeface="LM Sans 10"/>
              </a:rPr>
              <a:t>In:</a:t>
            </a:r>
            <a:r>
              <a:rPr dirty="0" spc="-5" sz="1100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45" i="1" sz="1100">
                <a:solidFill>
                  <a:srgbClr val="7A7ACD"/>
                </a:solidFill>
                <a:latin typeface="LM Sans 10"/>
                <a:cs typeface="Arial"/>
              </a:rPr>
              <a:t>Findings</a:t>
            </a:r>
            <a:r>
              <a:rPr dirty="0" i="1" sz="1100">
                <a:solidFill>
                  <a:srgbClr val="7A7ACD"/>
                </a:solidFill>
                <a:latin typeface="LM Sans 10"/>
                <a:cs typeface="Arial"/>
              </a:rPr>
              <a:t> of</a:t>
            </a:r>
            <a:r>
              <a:rPr dirty="0" spc="-5" i="1" sz="11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i="1" sz="1100">
                <a:solidFill>
                  <a:srgbClr val="7A7ACD"/>
                </a:solidFill>
                <a:latin typeface="LM Sans 10"/>
                <a:cs typeface="Arial"/>
              </a:rPr>
              <a:t>the </a:t>
            </a:r>
            <a:r>
              <a:rPr dirty="0" spc="-40" i="1" sz="1100">
                <a:solidFill>
                  <a:srgbClr val="7A7ACD"/>
                </a:solidFill>
                <a:latin typeface="LM Sans 10"/>
                <a:cs typeface="Arial"/>
              </a:rPr>
              <a:t>Association</a:t>
            </a:r>
            <a:r>
              <a:rPr dirty="0" i="1" sz="11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25" i="1" sz="1100">
                <a:solidFill>
                  <a:srgbClr val="7A7ACD"/>
                </a:solidFill>
                <a:latin typeface="LM Sans 10"/>
                <a:cs typeface="Arial"/>
              </a:rPr>
              <a:t>for</a:t>
            </a:r>
            <a:r>
              <a:rPr dirty="0" spc="-25" i="1" sz="11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30" i="1" sz="1100">
                <a:solidFill>
                  <a:srgbClr val="7A7ACD"/>
                </a:solidFill>
                <a:latin typeface="LM Sans 10"/>
                <a:cs typeface="Arial"/>
              </a:rPr>
              <a:t>Computational</a:t>
            </a:r>
            <a:r>
              <a:rPr dirty="0" spc="-10" i="1" sz="11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35" i="1" sz="1100">
                <a:solidFill>
                  <a:srgbClr val="7A7ACD"/>
                </a:solidFill>
                <a:latin typeface="LM Sans 10"/>
                <a:cs typeface="Arial"/>
              </a:rPr>
              <a:t>Linguistics</a:t>
            </a:r>
            <a:r>
              <a:rPr dirty="0" spc="-5" i="1" sz="11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10" sz="1100">
                <a:solidFill>
                  <a:srgbClr val="7A7ACD"/>
                </a:solidFill>
                <a:latin typeface="LM Sans 10"/>
              </a:rPr>
              <a:t>(2025).</a:t>
            </a:r>
            <a:r>
              <a:rPr dirty="0" spc="-5" sz="1100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50" sz="1100">
                <a:solidFill>
                  <a:srgbClr val="7A7ACD"/>
                </a:solidFill>
                <a:latin typeface="LM Sans 10"/>
              </a:rPr>
              <a:t>Accepted</a:t>
            </a:r>
            <a:r>
              <a:rPr dirty="0" spc="-5" sz="1100">
                <a:solidFill>
                  <a:srgbClr val="7A7ACD"/>
                </a:solidFill>
                <a:latin typeface="LM Sans 10"/>
              </a:rPr>
              <a:t> </a:t>
            </a:r>
            <a:r>
              <a:rPr dirty="0" sz="1100">
                <a:solidFill>
                  <a:srgbClr val="7A7ACD"/>
                </a:solidFill>
                <a:latin typeface="LM Sans 10"/>
              </a:rPr>
              <a:t>for</a:t>
            </a:r>
            <a:r>
              <a:rPr dirty="0" spc="-5" sz="1100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10" sz="1100">
                <a:solidFill>
                  <a:srgbClr val="7A7ACD"/>
                </a:solidFill>
                <a:latin typeface="LM Sans 10"/>
              </a:rPr>
              <a:t>publication.</a:t>
            </a:r>
          </a:p>
          <a:p>
            <a:pPr marL="300355" marR="95885" indent="-288290">
              <a:lnSpc>
                <a:spcPct val="102600"/>
              </a:lnSpc>
              <a:spcBef>
                <a:spcPts val="445"/>
              </a:spcBef>
              <a:buClr>
                <a:srgbClr val="3333B3"/>
              </a:buClr>
              <a:buFont typeface="Arial"/>
              <a:buAutoNum type="arabicPlain" startAt="3"/>
              <a:tabLst>
                <a:tab pos="300355" algn="l"/>
              </a:tabLst>
            </a:pPr>
            <a:r>
              <a:rPr dirty="0" sz="1100">
                <a:solidFill>
                  <a:srgbClr val="3333B3"/>
                </a:solidFill>
                <a:latin typeface="LM Sans 10"/>
              </a:rPr>
              <a:t>Martin</a:t>
            </a:r>
            <a:r>
              <a:rPr dirty="0" spc="15" sz="1100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35" sz="1100">
                <a:solidFill>
                  <a:srgbClr val="3333B3"/>
                </a:solidFill>
                <a:latin typeface="LM Sans 10"/>
              </a:rPr>
              <a:t>Docekal,</a:t>
            </a:r>
            <a:r>
              <a:rPr dirty="0" spc="20" sz="1100">
                <a:solidFill>
                  <a:srgbClr val="3333B3"/>
                </a:solidFill>
                <a:latin typeface="LM Sans 10"/>
              </a:rPr>
              <a:t> </a:t>
            </a:r>
            <a:r>
              <a:rPr dirty="0" sz="1100">
                <a:solidFill>
                  <a:srgbClr val="3333B3"/>
                </a:solidFill>
                <a:latin typeface="LM Sans 10"/>
              </a:rPr>
              <a:t>Martin</a:t>
            </a:r>
            <a:r>
              <a:rPr dirty="0" spc="20" sz="1100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20" sz="1100">
                <a:solidFill>
                  <a:srgbClr val="3333B3"/>
                </a:solidFill>
                <a:latin typeface="LM Sans 10"/>
              </a:rPr>
              <a:t>Fajcik,</a:t>
            </a:r>
            <a:r>
              <a:rPr dirty="0" spc="15" sz="1100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45" sz="1100">
                <a:solidFill>
                  <a:srgbClr val="3333B3"/>
                </a:solidFill>
                <a:latin typeface="LM Sans 10"/>
              </a:rPr>
              <a:t>and</a:t>
            </a:r>
            <a:r>
              <a:rPr dirty="0" spc="20" sz="1100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60" sz="1100">
                <a:solidFill>
                  <a:srgbClr val="3333B3"/>
                </a:solidFill>
                <a:latin typeface="LM Sans 10"/>
              </a:rPr>
              <a:t>Pavel</a:t>
            </a:r>
            <a:r>
              <a:rPr dirty="0" spc="20" sz="1100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35" sz="1100">
                <a:solidFill>
                  <a:srgbClr val="3333B3"/>
                </a:solidFill>
                <a:latin typeface="LM Sans 10"/>
              </a:rPr>
              <a:t>Smrz.</a:t>
            </a:r>
            <a:r>
              <a:rPr dirty="0" spc="15" sz="1100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35" sz="1100">
                <a:latin typeface="LM Sans 10"/>
              </a:rPr>
              <a:t>“Oarelatedwork:</a:t>
            </a:r>
            <a:r>
              <a:rPr dirty="0" spc="20" sz="1100">
                <a:latin typeface="LM Sans 10"/>
              </a:rPr>
              <a:t> </a:t>
            </a:r>
            <a:r>
              <a:rPr dirty="0" sz="1100">
                <a:latin typeface="LM Sans 10"/>
              </a:rPr>
              <a:t>A</a:t>
            </a:r>
            <a:r>
              <a:rPr dirty="0" spc="20" sz="1100">
                <a:latin typeface="LM Sans 10"/>
              </a:rPr>
              <a:t> </a:t>
            </a:r>
            <a:r>
              <a:rPr dirty="0" spc="-70" sz="1100">
                <a:latin typeface="LM Sans 10"/>
              </a:rPr>
              <a:t>large-</a:t>
            </a:r>
            <a:r>
              <a:rPr dirty="0" spc="-10" sz="1100">
                <a:latin typeface="LM Sans 10"/>
              </a:rPr>
              <a:t>scale </a:t>
            </a:r>
            <a:r>
              <a:rPr dirty="0" spc="-35" sz="1100">
                <a:latin typeface="LM Sans 10"/>
              </a:rPr>
              <a:t>dataset</a:t>
            </a:r>
            <a:r>
              <a:rPr dirty="0" spc="-15" sz="1100">
                <a:latin typeface="LM Sans 10"/>
              </a:rPr>
              <a:t> </a:t>
            </a:r>
            <a:r>
              <a:rPr dirty="0" sz="1100">
                <a:latin typeface="LM Sans 10"/>
              </a:rPr>
              <a:t>of</a:t>
            </a:r>
            <a:r>
              <a:rPr dirty="0" spc="5" sz="1100">
                <a:latin typeface="LM Sans 10"/>
              </a:rPr>
              <a:t> </a:t>
            </a:r>
            <a:r>
              <a:rPr dirty="0" spc="-35" sz="1100">
                <a:latin typeface="LM Sans 10"/>
              </a:rPr>
              <a:t>related</a:t>
            </a:r>
            <a:r>
              <a:rPr dirty="0" spc="5" sz="1100">
                <a:latin typeface="LM Sans 10"/>
              </a:rPr>
              <a:t> </a:t>
            </a:r>
            <a:r>
              <a:rPr dirty="0" spc="-25" sz="1100">
                <a:latin typeface="LM Sans 10"/>
              </a:rPr>
              <a:t>work</a:t>
            </a:r>
            <a:r>
              <a:rPr dirty="0" spc="5" sz="1100">
                <a:latin typeface="LM Sans 10"/>
              </a:rPr>
              <a:t> </a:t>
            </a:r>
            <a:r>
              <a:rPr dirty="0" spc="-55" sz="1100">
                <a:latin typeface="LM Sans 10"/>
              </a:rPr>
              <a:t>sections</a:t>
            </a:r>
            <a:r>
              <a:rPr dirty="0" spc="10" sz="1100">
                <a:latin typeface="LM Sans 10"/>
              </a:rPr>
              <a:t> </a:t>
            </a:r>
            <a:r>
              <a:rPr dirty="0" sz="1100">
                <a:latin typeface="LM Sans 10"/>
              </a:rPr>
              <a:t>with</a:t>
            </a:r>
            <a:r>
              <a:rPr dirty="0" spc="5" sz="1100">
                <a:latin typeface="LM Sans 10"/>
              </a:rPr>
              <a:t> </a:t>
            </a:r>
            <a:r>
              <a:rPr dirty="0" spc="-20" sz="1100">
                <a:latin typeface="LM Sans 10"/>
              </a:rPr>
              <a:t>full-</a:t>
            </a:r>
            <a:r>
              <a:rPr dirty="0" sz="1100">
                <a:latin typeface="LM Sans 10"/>
              </a:rPr>
              <a:t>texts</a:t>
            </a:r>
            <a:r>
              <a:rPr dirty="0" spc="5" sz="1100">
                <a:latin typeface="LM Sans 10"/>
              </a:rPr>
              <a:t> </a:t>
            </a:r>
            <a:r>
              <a:rPr dirty="0" sz="1100">
                <a:latin typeface="LM Sans 10"/>
              </a:rPr>
              <a:t>from</a:t>
            </a:r>
            <a:r>
              <a:rPr dirty="0" spc="5" sz="1100">
                <a:latin typeface="LM Sans 10"/>
              </a:rPr>
              <a:t> </a:t>
            </a:r>
            <a:r>
              <a:rPr dirty="0" spc="-55" sz="1100">
                <a:latin typeface="LM Sans 10"/>
              </a:rPr>
              <a:t>open</a:t>
            </a:r>
            <a:r>
              <a:rPr dirty="0" spc="5" sz="1100">
                <a:latin typeface="LM Sans 10"/>
              </a:rPr>
              <a:t> </a:t>
            </a:r>
            <a:r>
              <a:rPr dirty="0" spc="-100" sz="1100">
                <a:latin typeface="LM Sans 10"/>
              </a:rPr>
              <a:t>access</a:t>
            </a:r>
            <a:r>
              <a:rPr dirty="0" spc="25" sz="1100">
                <a:latin typeface="LM Sans 10"/>
              </a:rPr>
              <a:t> </a:t>
            </a:r>
            <a:r>
              <a:rPr dirty="0" spc="-60" sz="1100">
                <a:latin typeface="LM Sans 10"/>
              </a:rPr>
              <a:t>sources”.</a:t>
            </a:r>
            <a:r>
              <a:rPr dirty="0" spc="10" sz="1100">
                <a:latin typeface="LM Sans 10"/>
              </a:rPr>
              <a:t> </a:t>
            </a:r>
            <a:r>
              <a:rPr dirty="0" sz="1100">
                <a:solidFill>
                  <a:srgbClr val="7A7ACD"/>
                </a:solidFill>
                <a:latin typeface="LM Sans 10"/>
              </a:rPr>
              <a:t>In:</a:t>
            </a:r>
            <a:r>
              <a:rPr dirty="0" spc="5" sz="1100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10" i="1" sz="1100">
                <a:solidFill>
                  <a:srgbClr val="7A7ACD"/>
                </a:solidFill>
                <a:latin typeface="LM Sans 10"/>
                <a:cs typeface="Arial"/>
              </a:rPr>
              <a:t>arXiv</a:t>
            </a:r>
            <a:r>
              <a:rPr dirty="0" spc="-10" i="1" sz="11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20" i="1" sz="1100">
                <a:solidFill>
                  <a:srgbClr val="7A7ACD"/>
                </a:solidFill>
                <a:latin typeface="LM Sans 10"/>
                <a:cs typeface="Arial"/>
              </a:rPr>
              <a:t>preprint</a:t>
            </a:r>
            <a:r>
              <a:rPr dirty="0" spc="30" i="1" sz="11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50" i="1" sz="1100">
                <a:solidFill>
                  <a:srgbClr val="7A7ACD"/>
                </a:solidFill>
                <a:latin typeface="LM Sans 10"/>
                <a:cs typeface="Arial"/>
              </a:rPr>
              <a:t>arXiv:2405.01930</a:t>
            </a:r>
            <a:r>
              <a:rPr dirty="0" spc="35" i="1" sz="11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10" sz="1100">
                <a:solidFill>
                  <a:srgbClr val="7A7ACD"/>
                </a:solidFill>
                <a:latin typeface="LM Sans 10"/>
              </a:rPr>
              <a:t>(2024).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Dang Hai Dang, Pham Bao Yen, Nguyen Quang Huy, Do Truong Giang</dc:creator>
  <dc:title>A Collaborative Multi-agent Reinforcement Learning-Based Framework for Automated Related Work Summarization</dc:title>
  <dcterms:created xsi:type="dcterms:W3CDTF">2026-05-15T07:35:15Z</dcterms:created>
  <dcterms:modified xsi:type="dcterms:W3CDTF">2026-05-15T07:35:15Z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2026-05-15T00:00:00Z</vt:filetime>
  </property>
  <property fmtid="{D5CDD505-2E9C-101B-9397-08002B2CF9AE}" pid="5" name="Producer">
    <vt:lpwstr>macOS Version 26.0.1 (Build 25A362) Quartz PDFContext</vt:lpwstr>
  </property>
</Properties>
</file>